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451" r:id="rId2"/>
    <p:sldId id="486" r:id="rId3"/>
    <p:sldId id="459" r:id="rId4"/>
    <p:sldId id="494" r:id="rId5"/>
    <p:sldId id="471" r:id="rId6"/>
    <p:sldId id="479" r:id="rId7"/>
    <p:sldId id="487" r:id="rId8"/>
    <p:sldId id="488" r:id="rId9"/>
    <p:sldId id="489" r:id="rId10"/>
    <p:sldId id="490" r:id="rId11"/>
    <p:sldId id="491" r:id="rId12"/>
    <p:sldId id="480" r:id="rId13"/>
    <p:sldId id="481" r:id="rId14"/>
    <p:sldId id="495" r:id="rId15"/>
    <p:sldId id="478" r:id="rId16"/>
    <p:sldId id="497" r:id="rId17"/>
    <p:sldId id="493" r:id="rId18"/>
    <p:sldId id="4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D0005"/>
    <a:srgbClr val="E7E8EF"/>
    <a:srgbClr val="CBCEDD"/>
    <a:srgbClr val="2E00BB"/>
    <a:srgbClr val="003AA3"/>
    <a:srgbClr val="FF4B4B"/>
    <a:srgbClr val="D8B9BA"/>
    <a:srgbClr val="99B3D7"/>
    <a:srgbClr val="DC9D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0652" autoAdjust="0"/>
  </p:normalViewPr>
  <p:slideViewPr>
    <p:cSldViewPr snapToGrid="0" showGuides="1">
      <p:cViewPr varScale="1">
        <p:scale>
          <a:sx n="79" d="100"/>
          <a:sy n="79" d="100"/>
        </p:scale>
        <p:origin x="859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0F083-6108-4243-A388-DDB13CB06986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31F93-DC01-482F-AB5B-F81885DA79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09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大家好，我们是第九小组，我们小组的项目题目是：利用扩散模型根据任意提示生成视觉错觉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603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成员分工如下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99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先介绍基本的背景知识：</a:t>
            </a:r>
            <a:endParaRPr lang="en-US" altLang="zh-CN" dirty="0" smtClean="0"/>
          </a:p>
          <a:p>
            <a:r>
              <a:rPr lang="zh-CN" altLang="en-US" dirty="0" smtClean="0"/>
              <a:t>视觉错觉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图像在翻转或旋转等变换下改变外观。</a:t>
            </a:r>
            <a:endParaRPr lang="en-US" altLang="zh-CN" dirty="0" smtClean="0"/>
          </a:p>
          <a:p>
            <a:r>
              <a:rPr lang="zh-CN" altLang="en-US" dirty="0" smtClean="0"/>
              <a:t>而创造这种错觉的传统方法依赖于人类视觉的明确模型。</a:t>
            </a:r>
            <a:endParaRPr lang="en-US" altLang="zh-CN" dirty="0" smtClean="0"/>
          </a:p>
          <a:p>
            <a:r>
              <a:rPr lang="zh-CN" altLang="en-US" dirty="0" smtClean="0"/>
              <a:t>我们的项目参考了一种已有的方法，使用扩散模型生成多视角错觉图像。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64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3C47887-025B-1823-3227-53C74F349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3FD3AEC2-1D20-D1FB-1E05-660EBEB43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F43AF5E2-D86C-B0DE-53BE-CA10C211A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我们调研了一些相关工作：</a:t>
            </a:r>
            <a:endParaRPr lang="en-US" altLang="zh-CN" b="1" dirty="0" smtClean="0"/>
          </a:p>
          <a:p>
            <a:r>
              <a:rPr lang="en-US" altLang="zh-CN" b="1" dirty="0" smtClean="0"/>
              <a:t>1. </a:t>
            </a:r>
            <a:r>
              <a:rPr lang="zh-CN" altLang="en-US" b="1" dirty="0" smtClean="0"/>
              <a:t>使用扩散模型来生成视觉错觉</a:t>
            </a:r>
            <a:endParaRPr lang="en-US" altLang="zh-CN" b="1" dirty="0" smtClean="0"/>
          </a:p>
          <a:p>
            <a:r>
              <a:rPr lang="zh-CN" altLang="en-US" dirty="0" smtClean="0"/>
              <a:t>运用扩散模型的错觉</a:t>
            </a:r>
            <a:r>
              <a:rPr lang="en-US" altLang="zh-CN" dirty="0" err="1" smtClean="0"/>
              <a:t>Tancik</a:t>
            </a:r>
            <a:r>
              <a:rPr lang="zh-CN" altLang="en-US" dirty="0" smtClean="0"/>
              <a:t>表明，交替的噪声估计会在旋转的情况下引起感知偏移。</a:t>
            </a:r>
            <a:endParaRPr lang="en-US" altLang="zh-CN" dirty="0" smtClean="0"/>
          </a:p>
          <a:p>
            <a:r>
              <a:rPr lang="en-US" altLang="zh-CN" dirty="0" err="1" smtClean="0"/>
              <a:t>Burgert</a:t>
            </a:r>
            <a:r>
              <a:rPr lang="en-US" altLang="zh-CN" dirty="0" smtClean="0"/>
              <a:t> </a:t>
            </a:r>
            <a:r>
              <a:rPr lang="zh-CN" altLang="en-US" dirty="0" smtClean="0"/>
              <a:t>等人使用 </a:t>
            </a:r>
            <a:r>
              <a:rPr lang="en-US" altLang="zh-CN" dirty="0" err="1" smtClean="0"/>
              <a:t>SDS</a:t>
            </a:r>
            <a:r>
              <a:rPr lang="zh-CN" altLang="en-US" dirty="0" smtClean="0"/>
              <a:t>生成适合不同视角不同提示的图像，但计算成本较高。</a:t>
            </a:r>
            <a:endParaRPr lang="en-US" altLang="zh-CN" dirty="0" smtClean="0"/>
          </a:p>
          <a:p>
            <a:r>
              <a:rPr lang="en-US" altLang="zh-CN" b="1" dirty="0" smtClean="0"/>
              <a:t>2. </a:t>
            </a:r>
            <a:r>
              <a:rPr lang="zh-CN" altLang="en-US" b="1" dirty="0" smtClean="0"/>
              <a:t>使用预训练模型来推理视觉错觉</a:t>
            </a:r>
            <a:endParaRPr lang="en-US" altLang="zh-CN" b="1" dirty="0" smtClean="0"/>
          </a:p>
          <a:p>
            <a:r>
              <a:rPr lang="en-US" altLang="zh-CN" dirty="0" smtClean="0"/>
              <a:t>Prompt-to-Prompt</a:t>
            </a:r>
            <a:r>
              <a:rPr lang="zh-CN" altLang="en-US" dirty="0" smtClean="0"/>
              <a:t>和 </a:t>
            </a:r>
            <a:r>
              <a:rPr lang="en-US" altLang="zh-CN" dirty="0" smtClean="0"/>
              <a:t>Attend-and-Excite</a:t>
            </a:r>
            <a:r>
              <a:rPr lang="zh-CN" altLang="en-US" dirty="0" smtClean="0"/>
              <a:t>调整注意力动态以进行语义控制。</a:t>
            </a:r>
            <a:endParaRPr lang="en-US" altLang="zh-CN" dirty="0" smtClean="0"/>
          </a:p>
          <a:p>
            <a:r>
              <a:rPr lang="en-US" altLang="zh-CN" dirty="0" smtClean="0"/>
              <a:t>Visual Anagrams (VA Original) </a:t>
            </a:r>
            <a:r>
              <a:rPr lang="zh-CN" altLang="en-US" dirty="0" smtClean="0"/>
              <a:t>融合了来自变换视角的去噪信号，以创建模糊图像。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98756CDB-5F39-0148-F7F9-3086EFE8A2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169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 smtClean="0"/>
              <a:t>1. </a:t>
            </a:r>
            <a:r>
              <a:rPr lang="zh-CN" altLang="en-US" b="1" dirty="0" smtClean="0"/>
              <a:t>文本到图像的扩散模型</a:t>
            </a:r>
          </a:p>
          <a:p>
            <a:r>
              <a:rPr lang="zh-CN" altLang="en-US" dirty="0" smtClean="0"/>
              <a:t>利用预训练的扩散模型，根据文本提示生成图像（文生图），创造出在旋转、翻转等变换下会发生变化的视觉错觉。</a:t>
            </a:r>
          </a:p>
          <a:p>
            <a:r>
              <a:rPr lang="en-US" altLang="zh-CN" b="1" dirty="0" smtClean="0"/>
              <a:t>2. </a:t>
            </a:r>
            <a:r>
              <a:rPr lang="zh-CN" altLang="en-US" b="1" dirty="0" smtClean="0"/>
              <a:t>噪声估计</a:t>
            </a:r>
          </a:p>
          <a:p>
            <a:r>
              <a:rPr lang="zh-CN" altLang="en-US" dirty="0" smtClean="0"/>
              <a:t>在反向扩散过程中，结合来自噪声图像多个视图的噪声估计值，进行去噪并创建幻觉效果。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采样函数首先计算</a:t>
            </a:r>
            <a:r>
              <a:rPr lang="zh-CN" altLang="en-US" b="0" dirty="0" smtClean="0"/>
              <a:t>第 </a:t>
            </a:r>
            <a:r>
              <a:rPr lang="en-US" altLang="zh-CN" b="0" dirty="0" err="1" smtClean="0"/>
              <a:t>i</a:t>
            </a:r>
            <a:r>
              <a:rPr lang="en-US" altLang="zh-CN" b="0" dirty="0" smtClean="0"/>
              <a:t> </a:t>
            </a:r>
            <a:r>
              <a:rPr lang="zh-CN" altLang="en-US" b="0" dirty="0" smtClean="0"/>
              <a:t>个视角下对时刻 </a:t>
            </a:r>
            <a:r>
              <a:rPr lang="en-US" altLang="zh-CN" b="0" dirty="0" smtClean="0"/>
              <a:t>t </a:t>
            </a:r>
            <a:r>
              <a:rPr lang="zh-CN" altLang="en-US" b="0" dirty="0" smtClean="0"/>
              <a:t>的噪声估计，之后对该估计进行逆变换映射统一的噪声分布，</a:t>
            </a:r>
            <a:endParaRPr lang="en-US" altLang="zh-CN" b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 smtClean="0"/>
              <a:t>最后对所有视角的噪声估计应用和平均，</a:t>
            </a:r>
            <a:r>
              <a:rPr lang="zh-CN" altLang="en-US" dirty="0" smtClean="0"/>
              <a:t>确保所有视角的噪声估计得到均衡融合，兼顾多视角信息</a:t>
            </a:r>
          </a:p>
          <a:p>
            <a:r>
              <a:rPr lang="en-US" altLang="zh-CN" b="1" dirty="0" smtClean="0"/>
              <a:t>3. </a:t>
            </a:r>
            <a:r>
              <a:rPr lang="zh-CN" altLang="en-US" b="1" dirty="0" smtClean="0"/>
              <a:t>变换与视图</a:t>
            </a:r>
            <a:endParaRPr lang="en-US" altLang="zh-CN" b="1" dirty="0" smtClean="0"/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我们应用正交变换，以保持噪声统计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奇异排列是打破噪声估计的统一的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我们使用</a:t>
            </a:r>
            <a:r>
              <a:rPr lang="en-US" altLang="zh-CN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DeepFloyd</a:t>
            </a:r>
            <a:r>
              <a:rPr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IF: </a:t>
            </a:r>
            <a:r>
              <a:rPr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它主要分为三个阶段的噪声图像生成，文本引导方式使用冻结的</a:t>
            </a:r>
            <a:r>
              <a:rPr lang="en-US" altLang="zh-CN" dirty="0" err="1" smtClean="0"/>
              <a:t>T5-XXL</a:t>
            </a:r>
            <a:r>
              <a:rPr lang="en-US" altLang="zh-CN" baseline="0" dirty="0" smtClean="0"/>
              <a:t> encoder</a:t>
            </a:r>
            <a:r>
              <a:rPr lang="zh-CN" altLang="en-US" dirty="0" smtClean="0"/>
              <a:t>，</a:t>
            </a:r>
            <a:r>
              <a:rPr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像素级生成图像，能够生成更强和更稳定的图像。</a:t>
            </a:r>
            <a:endParaRPr lang="en-US" altLang="zh-CN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参数细节：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b="1" dirty="0" smtClean="0"/>
              <a:t>1. </a:t>
            </a:r>
            <a:r>
              <a:rPr lang="zh-CN" altLang="en-US" b="1" dirty="0" smtClean="0"/>
              <a:t>多视角噪声估计计算 </a:t>
            </a:r>
            <a:r>
              <a:rPr lang="en-US" altLang="zh-CN" b="1" dirty="0" smtClean="0"/>
              <a:t>--- </a:t>
            </a:r>
            <a:r>
              <a:rPr lang="zh-CN" altLang="en-US" b="1" dirty="0" smtClean="0"/>
              <a:t>第一个公式</a:t>
            </a:r>
            <a:endParaRPr lang="en-US" altLang="zh-CN" b="1" dirty="0" smtClean="0"/>
          </a:p>
          <a:p>
            <a:pPr marL="0" indent="0">
              <a:buNone/>
            </a:pPr>
            <a:r>
              <a:rPr lang="en-US" altLang="zh-CN" b="0" dirty="0" err="1" smtClean="0"/>
              <a:t>e_t</a:t>
            </a:r>
            <a:r>
              <a:rPr lang="en-US" altLang="zh-CN" b="0" dirty="0" smtClean="0"/>
              <a:t>(</a:t>
            </a:r>
            <a:r>
              <a:rPr lang="en-US" altLang="zh-CN" b="0" dirty="0" err="1" smtClean="0"/>
              <a:t>i</a:t>
            </a:r>
            <a:r>
              <a:rPr lang="en-US" altLang="zh-CN" b="0" dirty="0" smtClean="0"/>
              <a:t>):</a:t>
            </a:r>
            <a:r>
              <a:rPr lang="en-US" altLang="zh-CN" b="0" baseline="0" dirty="0" smtClean="0"/>
              <a:t> </a:t>
            </a:r>
            <a:r>
              <a:rPr lang="zh-CN" altLang="en-US" b="0" dirty="0" smtClean="0"/>
              <a:t>第 </a:t>
            </a:r>
            <a:r>
              <a:rPr lang="en-US" altLang="zh-CN" b="0" dirty="0" err="1" smtClean="0"/>
              <a:t>i</a:t>
            </a:r>
            <a:r>
              <a:rPr lang="zh-CN" altLang="en-US" b="0" dirty="0" smtClean="0"/>
              <a:t>个视角下对时刻 </a:t>
            </a:r>
            <a:r>
              <a:rPr lang="en-US" altLang="zh-CN" b="0" dirty="0" smtClean="0"/>
              <a:t>t </a:t>
            </a:r>
            <a:r>
              <a:rPr lang="zh-CN" altLang="en-US" b="0" dirty="0" smtClean="0"/>
              <a:t>的噪声估计</a:t>
            </a:r>
            <a:endParaRPr lang="en-US" altLang="zh-CN" b="0" dirty="0" smtClean="0"/>
          </a:p>
          <a:p>
            <a:pPr marL="0" indent="0">
              <a:buNone/>
            </a:pPr>
            <a:r>
              <a:rPr lang="en-US" altLang="zh-CN" dirty="0" err="1" smtClean="0"/>
              <a:t>e_theta</a:t>
            </a:r>
            <a:r>
              <a:rPr lang="en-US" altLang="zh-CN" dirty="0" smtClean="0"/>
              <a:t>: </a:t>
            </a:r>
            <a:r>
              <a:rPr lang="zh-CN" altLang="en-US" dirty="0" smtClean="0"/>
              <a:t>预训练扩散模型的噪声预测网络，参数为</a:t>
            </a:r>
            <a:r>
              <a:rPr lang="en-US" altLang="zh-CN" dirty="0" smtClean="0"/>
              <a:t>theta</a:t>
            </a:r>
          </a:p>
          <a:p>
            <a:pPr marL="0" indent="0">
              <a:buNone/>
            </a:pPr>
            <a:r>
              <a:rPr lang="en-US" altLang="zh-CN" b="0" dirty="0" err="1" smtClean="0"/>
              <a:t>v_i</a:t>
            </a:r>
            <a:r>
              <a:rPr lang="en-US" altLang="zh-CN" b="0" dirty="0" smtClean="0"/>
              <a:t>(</a:t>
            </a:r>
            <a:r>
              <a:rPr lang="en-US" altLang="zh-CN" b="0" dirty="0" err="1" smtClean="0"/>
              <a:t>x_t</a:t>
            </a:r>
            <a:r>
              <a:rPr lang="en-US" altLang="zh-CN" b="0" dirty="0" smtClean="0"/>
              <a:t>): </a:t>
            </a:r>
            <a:r>
              <a:rPr lang="zh-CN" altLang="en-US" dirty="0" smtClean="0"/>
              <a:t>对当前带噪图像</a:t>
            </a:r>
            <a:r>
              <a:rPr lang="en-US" altLang="zh-CN" dirty="0" err="1" smtClean="0"/>
              <a:t>x_t</a:t>
            </a:r>
            <a:r>
              <a:rPr lang="zh-CN" altLang="en-US" dirty="0" smtClean="0"/>
              <a:t>应用第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个视角变换 </a:t>
            </a:r>
            <a:r>
              <a:rPr lang="en-US" altLang="zh-CN" dirty="0" err="1" smtClean="0"/>
              <a:t>v_i</a:t>
            </a:r>
            <a:r>
              <a:rPr lang="zh-CN" altLang="en-US" dirty="0" smtClean="0"/>
              <a:t>（如旋转、翻转等）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b="0" dirty="0" err="1" smtClean="0"/>
              <a:t>y_i</a:t>
            </a:r>
            <a:r>
              <a:rPr lang="en-US" altLang="zh-CN" b="0" dirty="0" smtClean="0"/>
              <a:t>: </a:t>
            </a:r>
            <a:r>
              <a:rPr lang="zh-CN" altLang="en-US" dirty="0" smtClean="0"/>
              <a:t>与第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个视角对应的文本提示（</a:t>
            </a:r>
            <a:r>
              <a:rPr lang="en-US" altLang="zh-CN" dirty="0" smtClean="0"/>
              <a:t>prompt</a:t>
            </a:r>
            <a:r>
              <a:rPr lang="zh-CN" altLang="en-US" dirty="0" smtClean="0"/>
              <a:t>），条件输入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t</a:t>
            </a:r>
            <a:r>
              <a:rPr lang="zh-CN" altLang="en-US" dirty="0" smtClean="0"/>
              <a:t>：当前扩散过程的时间步（采样步骤）</a:t>
            </a:r>
            <a:endParaRPr lang="zh-CN" altLang="en-US" b="0" dirty="0" smtClean="0"/>
          </a:p>
          <a:p>
            <a:r>
              <a:rPr lang="en-US" altLang="zh-CN" b="1" dirty="0" smtClean="0"/>
              <a:t>2. </a:t>
            </a:r>
            <a:r>
              <a:rPr lang="zh-CN" altLang="en-US" b="1" dirty="0" smtClean="0"/>
              <a:t>逆变换对齐</a:t>
            </a:r>
            <a:endParaRPr lang="en-US" altLang="zh-CN" b="1" dirty="0" smtClean="0"/>
          </a:p>
          <a:p>
            <a:r>
              <a:rPr lang="en-US" altLang="zh-CN" dirty="0" err="1" smtClean="0"/>
              <a:t>v_i</a:t>
            </a:r>
            <a:r>
              <a:rPr lang="en-US" altLang="zh-CN" dirty="0" smtClean="0"/>
              <a:t>^(-1)(</a:t>
            </a:r>
            <a:r>
              <a:rPr lang="en-US" altLang="zh-CN" dirty="0" err="1" smtClean="0"/>
              <a:t>e_t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))</a:t>
            </a:r>
            <a:r>
              <a:rPr lang="zh-CN" altLang="en-US" dirty="0" smtClean="0"/>
              <a:t>：第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个视角变换 </a:t>
            </a:r>
            <a:r>
              <a:rPr lang="en-US" altLang="zh-CN" dirty="0" err="1" smtClean="0"/>
              <a:t>v_i</a:t>
            </a:r>
            <a:r>
              <a:rPr lang="en-US" altLang="zh-CN" dirty="0" smtClean="0"/>
              <a:t>​ </a:t>
            </a:r>
            <a:r>
              <a:rPr lang="zh-CN" altLang="en-US" dirty="0" smtClean="0"/>
              <a:t>的逆变换操作</a:t>
            </a:r>
            <a:r>
              <a:rPr lang="en-US" altLang="zh-CN" dirty="0" smtClean="0"/>
              <a:t>;</a:t>
            </a:r>
            <a:r>
              <a:rPr lang="en-US" altLang="zh-CN" baseline="0" dirty="0" smtClean="0"/>
              <a:t> </a:t>
            </a:r>
            <a:r>
              <a:rPr lang="zh-CN" altLang="en-US" dirty="0" smtClean="0"/>
              <a:t>作用是将视角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下估计的噪声预测映射回统一坐标系，方便融合。</a:t>
            </a:r>
            <a:endParaRPr lang="zh-CN" altLang="en-US" b="1" dirty="0" smtClean="0"/>
          </a:p>
          <a:p>
            <a:r>
              <a:rPr lang="en-US" altLang="zh-CN" b="1" dirty="0" smtClean="0"/>
              <a:t>3. </a:t>
            </a:r>
            <a:r>
              <a:rPr lang="zh-CN" altLang="en-US" b="1" dirty="0" smtClean="0"/>
              <a:t>多视角噪声融合 </a:t>
            </a:r>
            <a:r>
              <a:rPr lang="en-US" altLang="zh-CN" b="1" dirty="0" smtClean="0"/>
              <a:t>--- </a:t>
            </a:r>
            <a:r>
              <a:rPr lang="zh-CN" altLang="en-US" b="1" dirty="0" smtClean="0"/>
              <a:t>第三个公式</a:t>
            </a:r>
          </a:p>
          <a:p>
            <a:r>
              <a:rPr lang="zh-CN" altLang="en-US" dirty="0" smtClean="0"/>
              <a:t>和平均确保所有视角的噪声估计得到均衡融合，兼顾多视角信息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938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6260737-AFFC-DE84-4200-AA15AE54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C85A0BF9-E847-6B27-A806-9E57650BC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DDF8E2C8-D345-C8B6-4103-6C33D72D8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我们采用的评分规则是</a:t>
            </a:r>
            <a:r>
              <a:rPr lang="en-US" altLang="zh-CN" dirty="0" smtClean="0"/>
              <a:t>N*M</a:t>
            </a:r>
            <a:r>
              <a:rPr lang="zh-CN" altLang="en-US" dirty="0" smtClean="0"/>
              <a:t>矩阵里的</a:t>
            </a:r>
            <a:r>
              <a:rPr lang="en-US" altLang="zh-CN" dirty="0" smtClean="0"/>
              <a:t>CLIP-A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CLIP-C</a:t>
            </a:r>
            <a:r>
              <a:rPr lang="zh-CN" altLang="en-US" dirty="0" smtClean="0"/>
              <a:t>分数，分别代表最小的对齐度和最小的隐藏度，这两个指标越高代表视觉错觉图质量越高。</a:t>
            </a:r>
            <a:endParaRPr lang="en-US" altLang="zh-CN" dirty="0" smtClean="0"/>
          </a:p>
          <a:p>
            <a:r>
              <a:rPr lang="zh-CN" altLang="en-US" dirty="0" smtClean="0"/>
              <a:t>把</a:t>
            </a:r>
            <a:r>
              <a:rPr lang="en-US" altLang="zh-CN" dirty="0" smtClean="0"/>
              <a:t>N*M</a:t>
            </a:r>
            <a:r>
              <a:rPr lang="zh-CN" altLang="en-US" dirty="0" smtClean="0"/>
              <a:t>的输入即：有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个提示词，</a:t>
            </a:r>
            <a:r>
              <a:rPr lang="en-US" altLang="zh-CN" dirty="0" smtClean="0"/>
              <a:t>M</a:t>
            </a:r>
            <a:r>
              <a:rPr lang="zh-CN" altLang="en-US" dirty="0" smtClean="0"/>
              <a:t>张生成的图片构成的矩阵。</a:t>
            </a:r>
            <a:endParaRPr lang="en-US" altLang="zh-CN" dirty="0" smtClean="0"/>
          </a:p>
          <a:p>
            <a:r>
              <a:rPr lang="zh-CN" altLang="en-US" dirty="0" smtClean="0"/>
              <a:t>我们复现了原始的方法和原文里提供的两个</a:t>
            </a:r>
            <a:r>
              <a:rPr lang="en-US" altLang="zh-CN" dirty="0" smtClean="0"/>
              <a:t>Baselines</a:t>
            </a:r>
            <a:r>
              <a:rPr lang="zh-CN" altLang="en-US" dirty="0" smtClean="0"/>
              <a:t>用于评估，</a:t>
            </a:r>
            <a:endParaRPr lang="en-US" altLang="zh-CN" dirty="0" smtClean="0"/>
          </a:p>
          <a:p>
            <a:r>
              <a:rPr lang="zh-CN" altLang="en-US" dirty="0" smtClean="0"/>
              <a:t>从表格上可以看到原始方法的</a:t>
            </a:r>
            <a:r>
              <a:rPr lang="en-US" altLang="zh-CN" dirty="0" smtClean="0"/>
              <a:t>CLIP-C</a:t>
            </a:r>
            <a:r>
              <a:rPr lang="zh-CN" altLang="en-US" dirty="0" smtClean="0"/>
              <a:t>分数最高的次数最多，</a:t>
            </a:r>
            <a:r>
              <a:rPr lang="en-US" altLang="zh-CN" dirty="0" smtClean="0"/>
              <a:t>A</a:t>
            </a:r>
            <a:r>
              <a:rPr lang="zh-CN" altLang="en-US" dirty="0" smtClean="0"/>
              <a:t>分数虽然不是最高，但是保持均等。</a:t>
            </a:r>
            <a:endParaRPr lang="en-US" altLang="zh-CN" dirty="0" smtClean="0"/>
          </a:p>
          <a:p>
            <a:r>
              <a:rPr lang="zh-CN" altLang="en-US" dirty="0" smtClean="0"/>
              <a:t>而其他方法则在</a:t>
            </a:r>
            <a:r>
              <a:rPr lang="en-US" altLang="zh-CN" dirty="0" smtClean="0"/>
              <a:t>A</a:t>
            </a:r>
            <a:r>
              <a:rPr lang="zh-CN" altLang="en-US" dirty="0" smtClean="0"/>
              <a:t>上占比高，</a:t>
            </a:r>
            <a:r>
              <a:rPr lang="en-US" altLang="zh-CN" dirty="0" smtClean="0"/>
              <a:t>C</a:t>
            </a:r>
            <a:r>
              <a:rPr lang="zh-CN" altLang="en-US" dirty="0" smtClean="0"/>
              <a:t>上较低，因此可以看出原始的方法是在两个指标上结合有较好的生成表现。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----</a:t>
            </a:r>
          </a:p>
          <a:p>
            <a:r>
              <a:rPr lang="zh-CN" altLang="en-US" dirty="0" smtClean="0"/>
              <a:t>为什么采用这两个标准？</a:t>
            </a:r>
            <a:endParaRPr lang="en-US" altLang="zh-CN" dirty="0" smtClean="0"/>
          </a:p>
          <a:p>
            <a:pPr marL="228600" indent="-228600">
              <a:buAutoNum type="arabicPeriod"/>
            </a:pPr>
            <a:r>
              <a:rPr lang="en-US" altLang="zh-CN" b="0" dirty="0" smtClean="0"/>
              <a:t>CLIP </a:t>
            </a:r>
            <a:r>
              <a:rPr lang="zh-CN" altLang="en-US" b="0" dirty="0" smtClean="0"/>
              <a:t>本身是评估图文对齐性的主流多模态模型，文字喝图像对齐性</a:t>
            </a:r>
            <a:endParaRPr lang="en-US" altLang="zh-CN" b="0" dirty="0" smtClean="0"/>
          </a:p>
          <a:p>
            <a:pPr marL="228600" indent="-228600">
              <a:buAutoNum type="arabicPeriod"/>
            </a:pPr>
            <a:r>
              <a:rPr lang="en-US" altLang="zh-CN" dirty="0" smtClean="0"/>
              <a:t>CLIP-A </a:t>
            </a:r>
            <a:r>
              <a:rPr lang="zh-CN" altLang="en-US" dirty="0" smtClean="0"/>
              <a:t>指的是每行图像与其对应 </a:t>
            </a:r>
            <a:r>
              <a:rPr lang="en-US" altLang="zh-CN" dirty="0" smtClean="0"/>
              <a:t>prompt </a:t>
            </a:r>
            <a:r>
              <a:rPr lang="zh-CN" altLang="en-US" dirty="0" smtClean="0"/>
              <a:t>的最小对齐得分。我们关注最小值，是因为在多图生成中，</a:t>
            </a:r>
            <a:r>
              <a:rPr lang="zh-CN" altLang="en-US" b="1" dirty="0" smtClean="0"/>
              <a:t>只要有一张图脱离语义就会破坏错觉的整体性</a:t>
            </a:r>
            <a:endParaRPr lang="en-US" altLang="zh-CN" b="0" dirty="0" smtClean="0"/>
          </a:p>
          <a:p>
            <a:pPr marL="228600" indent="-228600">
              <a:buAutoNum type="arabicPeriod"/>
            </a:pPr>
            <a:r>
              <a:rPr lang="en-US" altLang="zh-CN" dirty="0" smtClean="0"/>
              <a:t>CLIP-C </a:t>
            </a:r>
            <a:r>
              <a:rPr lang="zh-CN" altLang="en-US" dirty="0" smtClean="0"/>
              <a:t>是行内任意两张图之间最小的图文对齐差异度，目标是评估是否能</a:t>
            </a:r>
            <a:r>
              <a:rPr lang="zh-CN" altLang="en-US" b="1" dirty="0" smtClean="0"/>
              <a:t>在语义一致的前提下，让图像间保持足够的视觉相似（即隐藏错觉）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变换的细节：</a:t>
            </a:r>
            <a:endParaRPr lang="en-US" altLang="zh-CN" dirty="0" smtClean="0"/>
          </a:p>
          <a:p>
            <a:r>
              <a:rPr lang="en-US" altLang="zh-CN" dirty="0" smtClean="0"/>
              <a:t>Flip: </a:t>
            </a:r>
            <a:r>
              <a:rPr lang="zh-CN" altLang="en-US" dirty="0" smtClean="0"/>
              <a:t>沿着</a:t>
            </a:r>
            <a:r>
              <a:rPr lang="en-US" altLang="zh-CN" dirty="0" smtClean="0"/>
              <a:t>x</a:t>
            </a:r>
            <a:r>
              <a:rPr lang="zh-CN" altLang="en-US" dirty="0" smtClean="0"/>
              <a:t>轴翻转</a:t>
            </a:r>
            <a:r>
              <a:rPr lang="en-US" altLang="zh-CN" dirty="0" smtClean="0"/>
              <a:t>180</a:t>
            </a:r>
            <a:r>
              <a:rPr lang="zh-CN" altLang="en-US" dirty="0" smtClean="0"/>
              <a:t>度</a:t>
            </a:r>
            <a:endParaRPr lang="en-US" altLang="zh-CN" dirty="0" smtClean="0"/>
          </a:p>
          <a:p>
            <a:r>
              <a:rPr lang="en-US" altLang="zh-CN" dirty="0" smtClean="0"/>
              <a:t>Rotation: </a:t>
            </a:r>
            <a:r>
              <a:rPr lang="zh-CN" altLang="en-US" dirty="0" smtClean="0"/>
              <a:t>旋转某些角度 </a:t>
            </a:r>
            <a:r>
              <a:rPr lang="en-US" altLang="zh-CN" dirty="0" smtClean="0"/>
              <a:t>90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180</a:t>
            </a:r>
            <a:r>
              <a:rPr lang="zh-CN" altLang="en-US" dirty="0" smtClean="0"/>
              <a:t>， </a:t>
            </a:r>
            <a:r>
              <a:rPr lang="en-US" altLang="zh-CN" dirty="0" smtClean="0"/>
              <a:t>270</a:t>
            </a:r>
          </a:p>
          <a:p>
            <a:r>
              <a:rPr lang="en-US" altLang="zh-CN" dirty="0" smtClean="0"/>
              <a:t>Inner: </a:t>
            </a:r>
            <a:r>
              <a:rPr lang="zh-CN" altLang="en-US" dirty="0" smtClean="0"/>
              <a:t>内圆旋转</a:t>
            </a:r>
            <a:endParaRPr lang="en-US" altLang="zh-CN" dirty="0" smtClean="0"/>
          </a:p>
          <a:p>
            <a:r>
              <a:rPr lang="en-US" altLang="zh-CN" dirty="0" smtClean="0"/>
              <a:t>Jigsaw: </a:t>
            </a:r>
            <a:r>
              <a:rPr lang="zh-CN" altLang="en-US" dirty="0" smtClean="0"/>
              <a:t>全局拼图排列 （全体的顺序可以变化）</a:t>
            </a:r>
            <a:endParaRPr lang="en-US" altLang="zh-CN" dirty="0" smtClean="0"/>
          </a:p>
          <a:p>
            <a:r>
              <a:rPr lang="en-US" altLang="zh-CN" dirty="0" smtClean="0"/>
              <a:t>Negate: </a:t>
            </a:r>
            <a:r>
              <a:rPr lang="zh-CN" altLang="en-US" dirty="0" smtClean="0"/>
              <a:t>像素值取反</a:t>
            </a:r>
            <a:endParaRPr lang="en-US" altLang="zh-CN" dirty="0" smtClean="0"/>
          </a:p>
          <a:p>
            <a:r>
              <a:rPr lang="en-US" altLang="zh-CN" dirty="0" smtClean="0"/>
              <a:t>Patch: </a:t>
            </a:r>
            <a:r>
              <a:rPr lang="zh-CN" altLang="en-US" dirty="0" smtClean="0"/>
              <a:t>局部拼图排列 （切分区域之后区域内顺序可变，区域和区域之间不可变）</a:t>
            </a:r>
            <a:endParaRPr lang="en-US" altLang="zh-CN" dirty="0" smtClean="0"/>
          </a:p>
          <a:p>
            <a:r>
              <a:rPr lang="en-US" altLang="zh-CN" dirty="0" smtClean="0"/>
              <a:t>Pixel: </a:t>
            </a:r>
            <a:r>
              <a:rPr lang="zh-CN" altLang="en-US" dirty="0" smtClean="0"/>
              <a:t>像素级排列</a:t>
            </a:r>
            <a:r>
              <a:rPr lang="zh-CN" altLang="en-US" baseline="0" dirty="0" smtClean="0"/>
              <a:t> （按照更小的像素块打乱顺序排列）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r>
              <a:rPr lang="en-US" altLang="zh-CN" dirty="0" smtClean="0"/>
              <a:t>Skew: </a:t>
            </a:r>
            <a:r>
              <a:rPr lang="zh-CN" altLang="en-US" dirty="0" smtClean="0"/>
              <a:t>沿着某个轴按比例倾斜</a:t>
            </a:r>
            <a:r>
              <a:rPr lang="en-US" altLang="zh-CN" dirty="0" smtClean="0"/>
              <a:t>/</a:t>
            </a:r>
            <a:r>
              <a:rPr lang="zh-CN" altLang="en-US" dirty="0" smtClean="0"/>
              <a:t>错位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4CFD2B07-F72A-2B9E-3E92-E69ECEB08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805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这是我们复现实现的几个典型例子：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Flip: </a:t>
            </a:r>
            <a:r>
              <a:rPr lang="zh-CN" altLang="en-US" dirty="0" smtClean="0"/>
              <a:t>沿着</a:t>
            </a:r>
            <a:r>
              <a:rPr lang="en-US" altLang="zh-CN" dirty="0" smtClean="0"/>
              <a:t>x</a:t>
            </a:r>
            <a:r>
              <a:rPr lang="zh-CN" altLang="en-US" dirty="0" smtClean="0"/>
              <a:t>轴翻转</a:t>
            </a:r>
            <a:r>
              <a:rPr lang="en-US" altLang="zh-CN" dirty="0" smtClean="0"/>
              <a:t>180</a:t>
            </a:r>
            <a:r>
              <a:rPr lang="zh-CN" altLang="en-US" dirty="0" smtClean="0"/>
              <a:t>度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Jigsaw: </a:t>
            </a:r>
            <a:r>
              <a:rPr lang="zh-CN" altLang="en-US" dirty="0" smtClean="0"/>
              <a:t>全局拼图排列 （全体的顺序可以变化）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207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Inner: </a:t>
            </a:r>
            <a:r>
              <a:rPr lang="zh-CN" altLang="en-US" dirty="0" smtClean="0"/>
              <a:t>内圆旋转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Negate: </a:t>
            </a:r>
            <a:r>
              <a:rPr lang="zh-CN" altLang="en-US" dirty="0" smtClean="0"/>
              <a:t>像素值取反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94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Patch: </a:t>
            </a:r>
            <a:r>
              <a:rPr lang="zh-CN" altLang="en-US" dirty="0" smtClean="0"/>
              <a:t>局部拼图排列 （切分区域之后区域内顺序可变，区域和区域之间不可变）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Pixel: </a:t>
            </a:r>
            <a:r>
              <a:rPr lang="zh-CN" altLang="en-US" dirty="0" smtClean="0"/>
              <a:t>像素级排列</a:t>
            </a:r>
            <a:r>
              <a:rPr lang="zh-CN" altLang="en-US" baseline="0" dirty="0" smtClean="0"/>
              <a:t> （按照更小的像素块打乱顺序排列）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37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Skew: </a:t>
            </a:r>
            <a:r>
              <a:rPr lang="zh-CN" altLang="en-US" dirty="0" smtClean="0"/>
              <a:t>沿着某个轴按比例倾斜</a:t>
            </a:r>
            <a:r>
              <a:rPr lang="en-US" altLang="zh-CN" dirty="0" smtClean="0"/>
              <a:t>/</a:t>
            </a:r>
            <a:r>
              <a:rPr lang="zh-CN" altLang="en-US" dirty="0" smtClean="0"/>
              <a:t>错位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Rotation: </a:t>
            </a:r>
            <a:r>
              <a:rPr lang="zh-CN" altLang="en-US" dirty="0" smtClean="0"/>
              <a:t>旋转某些角度 </a:t>
            </a:r>
            <a:r>
              <a:rPr lang="en-US" altLang="zh-CN" dirty="0" smtClean="0"/>
              <a:t>90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180</a:t>
            </a:r>
            <a:r>
              <a:rPr lang="zh-CN" altLang="en-US" dirty="0" smtClean="0"/>
              <a:t>， </a:t>
            </a:r>
            <a:r>
              <a:rPr lang="en-US" altLang="zh-CN" dirty="0" smtClean="0"/>
              <a:t>270</a:t>
            </a:r>
          </a:p>
          <a:p>
            <a:r>
              <a:rPr lang="zh-CN" altLang="en-US" dirty="0" smtClean="0"/>
              <a:t>这里是对第一张图右转</a:t>
            </a:r>
            <a:r>
              <a:rPr lang="en-US" altLang="zh-CN" dirty="0" smtClean="0"/>
              <a:t>90</a:t>
            </a:r>
            <a:r>
              <a:rPr lang="zh-CN" altLang="en-US" dirty="0" smtClean="0"/>
              <a:t>度，对第一张图左转</a:t>
            </a:r>
            <a:r>
              <a:rPr lang="en-US" altLang="zh-CN" dirty="0" smtClean="0"/>
              <a:t>90</a:t>
            </a:r>
            <a:r>
              <a:rPr lang="zh-CN" altLang="en-US" dirty="0" smtClean="0"/>
              <a:t>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146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在复现原始方法的过程中，我们发现：随着视图数量的增加，生成的图片质量下降剧烈，同时原文也指出在</a:t>
            </a:r>
            <a:r>
              <a:rPr lang="en-US" altLang="zh-CN" dirty="0" smtClean="0"/>
              <a:t>View 4</a:t>
            </a:r>
            <a:r>
              <a:rPr lang="zh-CN" altLang="en-US" dirty="0" smtClean="0"/>
              <a:t>上只有一个可展示例子。</a:t>
            </a:r>
            <a:endParaRPr lang="en-US" altLang="zh-CN" dirty="0" smtClean="0"/>
          </a:p>
          <a:p>
            <a:r>
              <a:rPr lang="zh-CN" altLang="en-US" dirty="0" smtClean="0"/>
              <a:t>因此我们设计了两个探索性的实验问题：</a:t>
            </a:r>
            <a:endParaRPr lang="en-US" altLang="zh-CN" dirty="0" smtClean="0"/>
          </a:p>
          <a:p>
            <a:r>
              <a:rPr lang="zh-CN" altLang="en-US" dirty="0" smtClean="0"/>
              <a:t>第一、找到使得图片质量下降的视图数量阈值</a:t>
            </a:r>
            <a:endParaRPr lang="en-US" altLang="zh-CN" dirty="0" smtClean="0"/>
          </a:p>
          <a:p>
            <a:r>
              <a:rPr lang="zh-CN" altLang="en-US" dirty="0" smtClean="0"/>
              <a:t>第二、在这个视图阈值下，设计修改策略使得图像质量上升或比原始方法好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具体而言：</a:t>
            </a:r>
            <a:endParaRPr lang="en-US" altLang="zh-CN" dirty="0" smtClean="0"/>
          </a:p>
          <a:p>
            <a:pPr marL="171450" indent="-171450">
              <a:buFontTx/>
              <a:buChar char="-"/>
            </a:pP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我们在不同的视图计数下对每个示例进行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次试验，然后计算平均指标以确定视图计数阈值。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我们使用相同的例子来测试不同的自适应方法，以检验它们是否可以增强生成在阈值视角下错觉的性能。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191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这是我们的第一个探索性问题的结果，我们测试了视图数目从</a:t>
            </a:r>
            <a:r>
              <a:rPr lang="en-US" altLang="zh-CN" dirty="0" smtClean="0"/>
              <a:t>2</a:t>
            </a:r>
            <a:r>
              <a:rPr lang="zh-CN" altLang="en-US" dirty="0" smtClean="0"/>
              <a:t>变到</a:t>
            </a:r>
            <a:r>
              <a:rPr lang="en-US" altLang="zh-CN" dirty="0" smtClean="0"/>
              <a:t>6</a:t>
            </a:r>
            <a:r>
              <a:rPr lang="zh-CN" altLang="en-US" dirty="0" smtClean="0"/>
              <a:t>的结果：</a:t>
            </a:r>
            <a:endParaRPr lang="en-US" altLang="zh-CN" dirty="0" smtClean="0"/>
          </a:p>
          <a:p>
            <a:r>
              <a:rPr lang="zh-CN" altLang="en-US" dirty="0" smtClean="0"/>
              <a:t>从图像上可以看到视角数目超过</a:t>
            </a:r>
            <a:r>
              <a:rPr lang="en-US" altLang="zh-CN" dirty="0" smtClean="0"/>
              <a:t>4</a:t>
            </a:r>
            <a:r>
              <a:rPr lang="zh-CN" altLang="en-US" dirty="0" smtClean="0"/>
              <a:t>的时候，两个指标都成下降态势；</a:t>
            </a:r>
            <a:endParaRPr lang="en-US" altLang="zh-CN" dirty="0" smtClean="0"/>
          </a:p>
          <a:p>
            <a:r>
              <a:rPr lang="zh-CN" altLang="en-US" dirty="0" smtClean="0"/>
              <a:t>再细分计算单张图的指标，发现在</a:t>
            </a:r>
            <a:r>
              <a:rPr lang="en-US" altLang="zh-CN" dirty="0" smtClean="0"/>
              <a:t>4-6</a:t>
            </a:r>
            <a:r>
              <a:rPr lang="zh-CN" altLang="en-US" dirty="0" smtClean="0"/>
              <a:t>视角数目的时候，</a:t>
            </a:r>
            <a:r>
              <a:rPr lang="en-US" altLang="zh-CN" dirty="0" smtClean="0"/>
              <a:t>C</a:t>
            </a:r>
            <a:r>
              <a:rPr lang="zh-CN" altLang="en-US" dirty="0" smtClean="0"/>
              <a:t>分数下降更加的剧烈，而</a:t>
            </a:r>
            <a:r>
              <a:rPr lang="en-US" altLang="zh-CN" dirty="0" smtClean="0"/>
              <a:t>A</a:t>
            </a:r>
            <a:r>
              <a:rPr lang="zh-CN" altLang="en-US" dirty="0" smtClean="0"/>
              <a:t>分数保持稳定；</a:t>
            </a:r>
            <a:endParaRPr lang="en-US" altLang="zh-CN" dirty="0" smtClean="0"/>
          </a:p>
          <a:p>
            <a:r>
              <a:rPr lang="zh-CN" altLang="en-US" dirty="0" smtClean="0"/>
              <a:t>因此我们可以得到视图数量变化影响隐藏性更大，并且在视图阈值为</a:t>
            </a:r>
            <a:r>
              <a:rPr lang="en-US" altLang="zh-CN" dirty="0" smtClean="0"/>
              <a:t>4</a:t>
            </a:r>
            <a:r>
              <a:rPr lang="zh-CN" altLang="en-US" dirty="0" smtClean="0"/>
              <a:t>之后图像质量明显下降的结论。</a:t>
            </a:r>
            <a:endParaRPr lang="en-US" altLang="zh-CN" dirty="0" smtClean="0"/>
          </a:p>
          <a:p>
            <a:r>
              <a:rPr lang="zh-CN" altLang="en-US" dirty="0" smtClean="0"/>
              <a:t>我们得到的视图阈值是</a:t>
            </a:r>
            <a:r>
              <a:rPr lang="en-US" altLang="zh-CN" dirty="0" smtClean="0"/>
              <a:t>4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867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591E0FB-8333-5818-F218-D49B47043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64FF56F5-05F4-74E2-D7F1-4DCCF2B9F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F6E8C9BA-6CF8-93C4-F765-B689717E3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我们的第二个探索问题，在视图阈值</a:t>
            </a:r>
            <a:r>
              <a:rPr lang="en-US" altLang="zh-CN" dirty="0" smtClean="0"/>
              <a:t>4</a:t>
            </a:r>
            <a:r>
              <a:rPr lang="zh-CN" altLang="en-US" dirty="0" smtClean="0"/>
              <a:t>下对算法进行策略调整，使其图像质量上升或者超过原先的算法；</a:t>
            </a:r>
            <a:endParaRPr lang="en-US" altLang="zh-CN" dirty="0" smtClean="0"/>
          </a:p>
          <a:p>
            <a:r>
              <a:rPr lang="zh-CN" altLang="en-US" dirty="0" smtClean="0"/>
              <a:t>我们一共设计了五种不同的策略，分别是：</a:t>
            </a:r>
            <a:endParaRPr lang="en-US" altLang="zh-CN" dirty="0" smtClean="0"/>
          </a:p>
          <a:p>
            <a:r>
              <a:rPr lang="zh-CN" altLang="en-US" dirty="0" smtClean="0"/>
              <a:t>基于共享种子的提示扰动（方案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）：受控噪声注入，在保持一致性的同时增强多样性。</a:t>
            </a:r>
            <a:endParaRPr lang="en-US" altLang="zh-CN" dirty="0" smtClean="0"/>
          </a:p>
          <a:p>
            <a:r>
              <a:rPr lang="zh-CN" altLang="en-US" dirty="0" smtClean="0"/>
              <a:t>平均提示嵌入（方案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）：向所有视图广播统一语义嵌入以获得更强的对齐。</a:t>
            </a:r>
            <a:endParaRPr lang="en-US" altLang="zh-CN" dirty="0" smtClean="0"/>
          </a:p>
          <a:p>
            <a:r>
              <a:rPr lang="zh-CN" altLang="en-US" dirty="0" smtClean="0"/>
              <a:t>片段引导的视图过滤（方案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）：基于片段相似度对视图进行预过滤以提高语义连贯性。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自适应强引导（</a:t>
            </a:r>
            <a:r>
              <a:rPr lang="en-US" altLang="zh-CN" dirty="0" smtClean="0"/>
              <a:t>Adaptive Strong</a:t>
            </a:r>
            <a:r>
              <a:rPr lang="zh-CN" altLang="en-US" dirty="0" smtClean="0"/>
              <a:t>）：积极扩展指导强度，以潜在的多样性代价来加强间视图的一致性。</a:t>
            </a:r>
            <a:endParaRPr lang="en-US" altLang="zh-CN" dirty="0" smtClean="0"/>
          </a:p>
          <a:p>
            <a:r>
              <a:rPr lang="zh-CN" altLang="en-US" dirty="0" smtClean="0"/>
              <a:t>自适应软引导（</a:t>
            </a:r>
            <a:r>
              <a:rPr lang="en-US" altLang="zh-CN" dirty="0" smtClean="0"/>
              <a:t>Adaptive Soft</a:t>
            </a:r>
            <a:r>
              <a:rPr lang="zh-CN" altLang="en-US" dirty="0" smtClean="0"/>
              <a:t>）：根据视点间相似度动态调整引导强度，以平衡对齐和多样性。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这里我们将着重介绍自适应软引导策略。</a:t>
            </a:r>
            <a:endParaRPr lang="en-US" altLang="zh-CN" dirty="0" smtClean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F19DF9DB-DB2F-3E93-D6FC-01EF3CB39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684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自适应软引导并非对所有视图使用固定的引导尺度，而是根据视图间相似性动态调整每个视图的引导尺度。</a:t>
            </a:r>
          </a:p>
          <a:p>
            <a:r>
              <a:rPr lang="zh-CN" altLang="en-US" dirty="0" smtClean="0"/>
              <a:t>这种自适应缩放增强了语义一致性更高的视图中的引导，从而能够在保持多样性的同时更精细地控制连贯性。</a:t>
            </a:r>
          </a:p>
          <a:p>
            <a:r>
              <a:rPr lang="zh-CN" altLang="en-US" dirty="0" smtClean="0"/>
              <a:t>原始方法采用统一的引导强度，这在具有复杂视图交互的多视图场景中可能会表现不佳。</a:t>
            </a:r>
            <a:endParaRPr lang="en-US" altLang="zh-CN" dirty="0" smtClean="0"/>
          </a:p>
          <a:p>
            <a:r>
              <a:rPr lang="en-US" altLang="zh-CN" dirty="0" smtClean="0"/>
              <a:t>-------</a:t>
            </a:r>
          </a:p>
          <a:p>
            <a:r>
              <a:rPr lang="zh-CN" altLang="en-US" dirty="0" smtClean="0"/>
              <a:t>一致性越高，给该视图更强的 </a:t>
            </a:r>
            <a:r>
              <a:rPr lang="en-US" altLang="zh-CN" dirty="0" smtClean="0"/>
              <a:t>guidance</a:t>
            </a:r>
            <a:r>
              <a:rPr lang="zh-CN" altLang="en-US" dirty="0" smtClean="0"/>
              <a:t>；一致性低则减弱 </a:t>
            </a:r>
            <a:r>
              <a:rPr lang="en-US" altLang="zh-CN" dirty="0" smtClean="0"/>
              <a:t>guidance</a:t>
            </a:r>
            <a:r>
              <a:rPr lang="zh-CN" altLang="en-US" dirty="0" smtClean="0"/>
              <a:t>，从而避免视图间冲突或崩塌</a:t>
            </a:r>
            <a:endParaRPr lang="en-US" altLang="zh-CN" dirty="0" smtClean="0"/>
          </a:p>
          <a:p>
            <a:r>
              <a:rPr lang="en-US" altLang="zh-CN" dirty="0" err="1" smtClean="0"/>
              <a:t>CFG</a:t>
            </a:r>
            <a:r>
              <a:rPr lang="en-US" altLang="zh-CN" dirty="0" smtClean="0"/>
              <a:t> (Classifier-Free Guidance) </a:t>
            </a:r>
            <a:r>
              <a:rPr lang="zh-CN" altLang="en-US" dirty="0" smtClean="0"/>
              <a:t>自适应引导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784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1A5822E-49DC-DCDC-BD91-6368B8AE3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2004E3C6-AF2A-A7FE-34CF-271598412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318E9F81-B1D3-7A9D-60F0-9B83FEB51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我们采用排名统计的方式进行分析结果：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排名基于第一名的数量，以尽量减少异常影响。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CLIP-A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中以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胜领先，但是在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CLIP-C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表现不佳，自适应软指导和原方法均为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胜。</a:t>
            </a:r>
          </a:p>
          <a:p>
            <a:pPr marL="0" indent="0">
              <a:buFontTx/>
              <a:buNone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自适应软引导获得了最佳的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CLIP-C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性能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胜，超过了原方法（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胜）和所有其他方法（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胜或更少）。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zh-CN" altLang="en-US" dirty="0" smtClean="0"/>
              <a:t>因此我们认为自适应软引导在阈值视图数量下，能够提升视觉错觉的图像质量，尤其是在隐藏层面上。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CFC56103-F7A3-4EE7-1D21-DF0CFE5FB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3110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总结我们的创新点</a:t>
            </a:r>
            <a:endParaRPr lang="en-US" altLang="zh-CN" dirty="0" smtClean="0"/>
          </a:p>
          <a:p>
            <a:r>
              <a:rPr lang="zh-CN" altLang="en-US" dirty="0" smtClean="0"/>
              <a:t>我们的创新点主要分为工程和学术上两个部分：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工程上：我们为原始的框架做了任意视角和提示词输入的适配，并匹配任意输入的合成动画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学术上：我们首先复现了原始的实验并和原文</a:t>
            </a:r>
            <a:r>
              <a:rPr lang="en-US" altLang="zh-CN" dirty="0" smtClean="0"/>
              <a:t>baselines</a:t>
            </a:r>
            <a:r>
              <a:rPr lang="zh-CN" altLang="en-US" dirty="0" smtClean="0"/>
              <a:t>比较；接着，我们设计了两个探索性问题：</a:t>
            </a:r>
            <a:endParaRPr lang="en-US" altLang="zh-CN" dirty="0" smtClean="0"/>
          </a:p>
          <a:p>
            <a:r>
              <a:rPr lang="zh-CN" altLang="en-US" dirty="0" smtClean="0"/>
              <a:t>第一</a:t>
            </a:r>
            <a:r>
              <a:rPr lang="en-US" altLang="zh-CN" dirty="0" smtClean="0"/>
              <a:t>,  </a:t>
            </a:r>
            <a:r>
              <a:rPr lang="zh-CN" altLang="en-US" dirty="0" smtClean="0"/>
              <a:t>探索在任意输入条件下，视觉错觉图像质量下降的视角阈值</a:t>
            </a:r>
            <a:r>
              <a:rPr lang="en-US" altLang="zh-CN" dirty="0" smtClean="0"/>
              <a:t>,</a:t>
            </a:r>
            <a:r>
              <a:rPr lang="en-US" altLang="zh-CN" baseline="0" dirty="0" smtClean="0"/>
              <a:t>  </a:t>
            </a:r>
            <a:r>
              <a:rPr lang="zh-CN" altLang="en-US" baseline="0" dirty="0" smtClean="0"/>
              <a:t>并得到</a:t>
            </a:r>
            <a:r>
              <a:rPr lang="en-US" altLang="zh-CN" baseline="0" dirty="0" smtClean="0"/>
              <a:t>4</a:t>
            </a:r>
            <a:r>
              <a:rPr lang="zh-CN" altLang="en-US" baseline="0" dirty="0" smtClean="0"/>
              <a:t>视角是阈值的结果；</a:t>
            </a:r>
            <a:endParaRPr lang="en-US" altLang="zh-CN" baseline="0" dirty="0" smtClean="0"/>
          </a:p>
          <a:p>
            <a:r>
              <a:rPr lang="zh-CN" altLang="en-US" baseline="0" dirty="0" smtClean="0"/>
              <a:t>第二，在</a:t>
            </a:r>
            <a:r>
              <a:rPr lang="en-US" altLang="zh-CN" baseline="0" dirty="0" smtClean="0"/>
              <a:t>4</a:t>
            </a:r>
            <a:r>
              <a:rPr lang="zh-CN" altLang="en-US" baseline="0" dirty="0" smtClean="0"/>
              <a:t>视角阈值的条件下，对提升视觉图像质量进行策略修改，测试之后得到自适应软引导提升效果最好的结论。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4871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参考文献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F93-DC01-482F-AB5B-F81885DA799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373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931" y="3066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616868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 rotWithShape="1">
          <a:blip r:embed="rId2" cstate="email"/>
          <a:srcRect r="416"/>
          <a:stretch>
            <a:fillRect/>
          </a:stretch>
        </p:blipFill>
        <p:spPr>
          <a:xfrm>
            <a:off x="-1" y="5120806"/>
            <a:ext cx="12191999" cy="175993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328428"/>
            <a:ext cx="2772075" cy="762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gradFill>
          <a:gsLst>
            <a:gs pos="100000">
              <a:srgbClr val="7F0020"/>
            </a:gs>
            <a:gs pos="0">
              <a:srgbClr val="D74034"/>
            </a:gs>
            <a:gs pos="30000">
              <a:srgbClr val="C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80992"/>
            <a:ext cx="10515600" cy="1296015"/>
          </a:xfrm>
        </p:spPr>
        <p:txBody>
          <a:bodyPr anchor="b">
            <a:noAutofit/>
          </a:bodyPr>
          <a:lstStyle>
            <a:lvl1pPr>
              <a:defRPr sz="80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 r="313"/>
          <a:stretch>
            <a:fillRect/>
          </a:stretch>
        </p:blipFill>
        <p:spPr>
          <a:xfrm>
            <a:off x="0" y="5069225"/>
            <a:ext cx="12192000" cy="179830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328428"/>
            <a:ext cx="2772075" cy="762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 r="416"/>
          <a:stretch>
            <a:fillRect/>
          </a:stretch>
        </p:blipFill>
        <p:spPr>
          <a:xfrm>
            <a:off x="-1" y="5120806"/>
            <a:ext cx="12191999" cy="175993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182508"/>
            <a:ext cx="2772075" cy="762828"/>
          </a:xfrm>
          <a:prstGeom prst="rect">
            <a:avLst/>
          </a:prstGeom>
        </p:spPr>
      </p:pic>
      <p:sp>
        <p:nvSpPr>
          <p:cNvPr id="10" name="标题 8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底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7" name="Freeform 5"/>
            <p:cNvSpPr/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0"/>
            <p:cNvSpPr/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纹 + 校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812" y="325447"/>
            <a:ext cx="2810614" cy="752510"/>
          </a:xfrm>
          <a:prstGeom prst="rect">
            <a:avLst/>
          </a:prstGeom>
        </p:spPr>
      </p:pic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7" name="Freeform 5"/>
            <p:cNvSpPr/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0"/>
            <p:cNvSpPr/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等腰三角形 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539503" y="2755"/>
            <a:ext cx="10515600" cy="1315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Rectangle 10"/>
            <p:cNvSpPr/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2"/>
            <p:cNvSpPr/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/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4"/>
            <p:cNvSpPr/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/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/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7"/>
            <p:cNvSpPr/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/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含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等腰三角形 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539503" y="2755"/>
            <a:ext cx="10515600" cy="1315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Rectangle 10"/>
            <p:cNvSpPr/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2"/>
            <p:cNvSpPr/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/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4"/>
            <p:cNvSpPr/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/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/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7"/>
            <p:cNvSpPr/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/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63600" y="1579654"/>
            <a:ext cx="10309225" cy="464661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549169" y="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信息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accent1"/>
          </a:solidFill>
        </p:grpSpPr>
        <p:sp>
          <p:nvSpPr>
            <p:cNvPr id="11" name="Freeform 5"/>
            <p:cNvSpPr/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/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/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/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/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/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/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/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/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/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/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/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/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6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等腰三角形 26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78543" y="0"/>
            <a:ext cx="10515600" cy="13108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物质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2"/>
          </a:solidFill>
        </p:grpSpPr>
        <p:sp>
          <p:nvSpPr>
            <p:cNvPr id="11" name="Freeform 5"/>
            <p:cNvSpPr/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/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/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/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/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/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/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/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/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/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/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/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/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77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lang="zh-CN" alt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生命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3"/>
          </a:solidFill>
        </p:grpSpPr>
        <p:sp>
          <p:nvSpPr>
            <p:cNvPr id="11" name="Freeform 5"/>
            <p:cNvSpPr/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/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/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/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/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/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/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/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/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/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/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/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/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1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等腰三角形 3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管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4"/>
          </a:solidFill>
        </p:grpSpPr>
        <p:sp>
          <p:nvSpPr>
            <p:cNvPr id="11" name="Freeform 5"/>
            <p:cNvSpPr/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/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/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/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/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/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/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/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/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/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/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/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/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890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艺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5"/>
          </a:solidFill>
        </p:grpSpPr>
        <p:sp>
          <p:nvSpPr>
            <p:cNvPr id="11" name="Freeform 5"/>
            <p:cNvSpPr/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/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/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/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/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/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/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/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/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/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/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/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/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科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81832" y="182507"/>
            <a:ext cx="8216283" cy="759735"/>
          </a:xfrm>
          <a:solidFill>
            <a:srgbClr val="014099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1" y="1013101"/>
            <a:ext cx="12192001" cy="5844899"/>
            <a:chOff x="-1" y="1092199"/>
            <a:chExt cx="12192001" cy="5765801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" y="1092199"/>
              <a:ext cx="12192001" cy="5765801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1092199"/>
              <a:ext cx="12192000" cy="5765801"/>
            </a:xfrm>
            <a:prstGeom prst="rect">
              <a:avLst/>
            </a:prstGeom>
            <a:solidFill>
              <a:schemeClr val="bg1">
                <a:alpha val="9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 userDrawn="1"/>
        </p:nvSpPr>
        <p:spPr>
          <a:xfrm>
            <a:off x="0" y="955951"/>
            <a:ext cx="12192000" cy="156384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 userDrawn="1"/>
        </p:nvSpPr>
        <p:spPr>
          <a:xfrm>
            <a:off x="0" y="72341"/>
            <a:ext cx="139700" cy="83563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206657"/>
            <a:ext cx="2603500" cy="7013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4B51F-5022-4B9A-B1DC-58E2D82F8E58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1.17919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83490" y="1887416"/>
            <a:ext cx="11074401" cy="1633340"/>
          </a:xfrm>
        </p:spPr>
        <p:txBody>
          <a:bodyPr/>
          <a:lstStyle/>
          <a:p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Optical Illusions from Arbitrary Prompts with Diffusion Models</a:t>
            </a:r>
            <a:endParaRPr lang="zh-CN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776088" y="3960640"/>
            <a:ext cx="10380738" cy="1500187"/>
          </a:xfrm>
        </p:spPr>
        <p:txBody>
          <a:bodyPr anchor="ctr">
            <a:norm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陈炫昕、戴涛怡、杨丽琴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、李一诺、</a:t>
            </a:r>
            <a:r>
              <a:rPr lang="en-US" altLang="zh-CN" sz="28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董妮松</a:t>
            </a:r>
            <a:endParaRPr lang="en-US" altLang="zh-CN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June 17th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325CE23-14AB-923D-E568-709330F39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="" xmlns:a16="http://schemas.microsoft.com/office/drawing/2014/main" id="{A0052C2E-1EA5-C1C7-4628-988D9821D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533179"/>
              </p:ext>
            </p:extLst>
          </p:nvPr>
        </p:nvGraphicFramePr>
        <p:xfrm>
          <a:off x="1422400" y="1449822"/>
          <a:ext cx="9093200" cy="44182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72637">
                  <a:extLst>
                    <a:ext uri="{9D8B030D-6E8A-4147-A177-3AD203B41FA5}">
                      <a16:colId xmlns="" xmlns:a16="http://schemas.microsoft.com/office/drawing/2014/main" val="961193233"/>
                    </a:ext>
                  </a:extLst>
                </a:gridCol>
                <a:gridCol w="6220563">
                  <a:extLst>
                    <a:ext uri="{9D8B030D-6E8A-4147-A177-3AD203B41FA5}">
                      <a16:colId xmlns="" xmlns:a16="http://schemas.microsoft.com/office/drawing/2014/main" val="308680645"/>
                    </a:ext>
                  </a:extLst>
                </a:gridCol>
              </a:tblGrid>
              <a:tr h="7363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Members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24214166"/>
                  </a:ext>
                </a:extLst>
              </a:tr>
              <a:tr h="7363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Xuanxi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Chen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 &amp; </a:t>
                      </a:r>
                      <a:r>
                        <a:rPr lang="en-US" altLang="zh-CN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Improvement 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Slides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31182428"/>
                  </a:ext>
                </a:extLst>
              </a:tr>
              <a:tr h="7363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Taoyi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Dai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Motivation &amp; Slides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92740532"/>
                  </a:ext>
                </a:extLst>
              </a:tr>
              <a:tr h="7363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Yinuo Li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03384023"/>
                  </a:ext>
                </a:extLst>
              </a:tr>
              <a:tr h="7363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Liqin Yang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Related </a:t>
                      </a:r>
                      <a:r>
                        <a:rPr lang="en-US" altLang="zh-CN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Conclusion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50069066"/>
                  </a:ext>
                </a:extLst>
              </a:tr>
              <a:tr h="7363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Songni Dong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&amp; Background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0235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8063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25-04-13 16:47:22.228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80" y="1811552"/>
            <a:ext cx="5852160" cy="334702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3028" y="149515"/>
            <a:ext cx="6705600" cy="73016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Optical Illusion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3028" y="1330904"/>
            <a:ext cx="5421405" cy="420629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Optical illusions ——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images that change appearance under transformations like flips or rotations.  </a:t>
            </a:r>
          </a:p>
          <a:p>
            <a:endParaRPr lang="en-US" altLang="zh-CN" sz="2400" dirty="0">
              <a:latin typeface="Times New Roman" panose="02020603050405020304" pitchFamily="18" charset="0"/>
              <a:ea typeface="Calibri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Traditional methods for creating such illusions rely on explicit models of human vision.</a:t>
            </a:r>
          </a:p>
          <a:p>
            <a:endParaRPr lang="en-US" altLang="zh-CN" sz="2400" dirty="0">
              <a:latin typeface="Times New Roman" panose="02020603050405020304" pitchFamily="18" charset="0"/>
              <a:ea typeface="Calibri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We refer a simple and powerful </a:t>
            </a:r>
            <a:r>
              <a:rPr lang="en-US" altLang="zh-CN" sz="2400" dirty="0" err="1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method</a:t>
            </a:r>
            <a:r>
              <a:rPr lang="en-US" altLang="zh-CN" sz="2400" baseline="30000" dirty="0" err="1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 for generating multi-view optical illusions </a:t>
            </a:r>
            <a:r>
              <a:rPr lang="en-US" altLang="zh-CN" sz="2400" dirty="0" smtClean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using </a:t>
            </a:r>
            <a:r>
              <a:rPr lang="en-US" altLang="zh-CN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diffusion models.</a:t>
            </a:r>
            <a:endParaRPr lang="en-US" altLang="zh-CN" sz="2400" dirty="0">
              <a:latin typeface="Times New Roman" panose="02020603050405020304" pitchFamily="18" charset="0"/>
              <a:ea typeface="Calibri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Background: Optical illusions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63028" y="5903788"/>
            <a:ext cx="11594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Daniel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Geng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Inbum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and Andrew Owens. 2024. Visual Anagrams: Gen-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erating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Multi-View Optical Illusions with Diffusion Models. In Conference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onComputer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Vision and Pattern Recognition 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CVPR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https://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arxiv.org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/abs/2311.17919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3D1E29D-CB4D-F8C8-70DE-131446DA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CC8BD70-9C4F-A439-A29E-6996CA9ED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6691B018-411C-B323-0ECA-59E2DD95AD80}"/>
              </a:ext>
            </a:extLst>
          </p:cNvPr>
          <p:cNvSpPr txBox="1"/>
          <p:nvPr/>
        </p:nvSpPr>
        <p:spPr>
          <a:xfrm>
            <a:off x="349931" y="1585145"/>
            <a:ext cx="118420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Illusions with Diffusion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Tancik</a:t>
            </a:r>
            <a:r>
              <a:rPr lang="en-US" altLang="zh-CN" sz="2400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showed alternating noise estimates can cause perceptual shifts under rotation.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Burgert et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al.</a:t>
            </a:r>
            <a:r>
              <a:rPr lang="en-US" altLang="zh-CN" sz="2400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SDS</a:t>
            </a:r>
            <a:r>
              <a:rPr lang="en-US" altLang="zh-CN" sz="2400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images fitting different prompts from various views, though with high computational cost.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with Pretrained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Prompt-to-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r>
              <a:rPr lang="en-US" altLang="zh-CN" sz="2400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 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Attend-and-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Excite</a:t>
            </a:r>
            <a:r>
              <a:rPr lang="en-US" altLang="zh-CN" sz="2400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attention dynamics for semantic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Anagrams (VA Original) fuses denoising signals from transformed views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ambiguous images.</a:t>
            </a:r>
          </a:p>
        </p:txBody>
      </p:sp>
    </p:spTree>
    <p:extLst>
      <p:ext uri="{BB962C8B-B14F-4D97-AF65-F5344CB8AC3E}">
        <p14:creationId xmlns:p14="http://schemas.microsoft.com/office/powerpoint/2010/main" val="2685768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3865" y="146685"/>
            <a:ext cx="6705600" cy="67627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600" y="1226266"/>
            <a:ext cx="11141555" cy="419080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1. Text-to-Image Diffusion Models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Utilizes </a:t>
            </a:r>
            <a:r>
              <a:rPr lang="en-US" altLang="zh-CN" sz="2400" dirty="0" smtClean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pre-trained </a:t>
            </a:r>
            <a:r>
              <a:rPr lang="en-US" altLang="zh-CN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diffusion models for image generation based on text prompts, creating illusions that change under </a:t>
            </a:r>
            <a:r>
              <a:rPr lang="en-US" altLang="zh-CN" sz="2400" dirty="0" smtClean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transformations.</a:t>
            </a:r>
            <a:endParaRPr lang="en-US" altLang="zh-CN" sz="2400" dirty="0">
              <a:latin typeface="Times New Roman" panose="02020603050405020304" pitchFamily="18" charset="0"/>
              <a:ea typeface="Calibri" charset="0"/>
              <a:cs typeface="Times New Roman" panose="02020603050405020304" pitchFamily="18" charset="0"/>
              <a:sym typeface="+mn-ea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Calibri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2. Noise Estimation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Combines noise estimates from multiple views of the noisy image during reverse diffusion to </a:t>
            </a:r>
            <a:r>
              <a:rPr lang="en-US" altLang="zh-CN" sz="2400" dirty="0" err="1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denoise</a:t>
            </a:r>
            <a:r>
              <a:rPr lang="en-US" altLang="zh-CN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 and create the illusion.</a:t>
            </a:r>
          </a:p>
          <a:p>
            <a:endParaRPr lang="en-US" altLang="zh-CN" sz="2400" dirty="0">
              <a:latin typeface="Times New Roman" panose="02020603050405020304" pitchFamily="18" charset="0"/>
              <a:ea typeface="Calibri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3. Transformations and Views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Orthogonal Transformations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Exotic Permutations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9600" y="5343424"/>
            <a:ext cx="51788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Core </a:t>
            </a:r>
            <a:r>
              <a:rPr lang="zh-CN" altLang="en-US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Diffusion Models</a:t>
            </a:r>
            <a:r>
              <a:rPr lang="en-US" altLang="zh-CN" sz="2400" dirty="0"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  <a:sym typeface="+mn-ea"/>
              </a:rPr>
              <a:t>: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DeepFloyd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2400" b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400" dirty="0">
              <a:latin typeface="Times New Roman" panose="02020603050405020304" pitchFamily="18" charset="0"/>
              <a:ea typeface="Calibri" charset="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869786" y="3694790"/>
            <a:ext cx="6796991" cy="869949"/>
            <a:chOff x="3416602" y="2443166"/>
            <a:chExt cx="6796991" cy="86994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3986" y="2443166"/>
              <a:ext cx="2259607" cy="869949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80376" y="2515521"/>
              <a:ext cx="1323243" cy="725239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16602" y="2509021"/>
              <a:ext cx="2480023" cy="7382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896C2C1-4558-2901-414D-07D76A659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5CAF3EE-6212-2A12-EFED-8430827E4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Reproduction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A0D15FED-335E-BE19-7E24-488DC9B84562}"/>
              </a:ext>
            </a:extLst>
          </p:cNvPr>
          <p:cNvSpPr txBox="1"/>
          <p:nvPr/>
        </p:nvSpPr>
        <p:spPr>
          <a:xfrm>
            <a:off x="347057" y="1207164"/>
            <a:ext cx="4500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i="0" dirty="0" err="1" smtClean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N×M</a:t>
            </a:r>
            <a:r>
              <a:rPr lang="en-US" altLang="zh-CN" sz="2400" b="1" i="0" dirty="0" smtClean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CLIP Scores for View 2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6953B43A-738C-9375-D10D-F1FA4D1673AF}"/>
              </a:ext>
            </a:extLst>
          </p:cNvPr>
          <p:cNvSpPr txBox="1"/>
          <p:nvPr/>
        </p:nvSpPr>
        <p:spPr>
          <a:xfrm>
            <a:off x="347056" y="1668829"/>
            <a:ext cx="113674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CLIP-A and CLIP-C scores across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eight two-views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illusion examples using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 methods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Tancik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 Original, and Burgert.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555" y="2499826"/>
            <a:ext cx="9258386" cy="407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5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B6DF2E7-71B5-13F0-0604-CCCC93175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Reproduction</a:t>
            </a:r>
            <a:endParaRPr lang="zh-CN" altLang="en-US" dirty="0"/>
          </a:p>
        </p:txBody>
      </p:sp>
      <p:pic>
        <p:nvPicPr>
          <p:cNvPr id="6" name="图片 5" descr="地上有许多涂鸦&#10;&#10;AI 生成的内容可能不正确。">
            <a:extLst>
              <a:ext uri="{FF2B5EF4-FFF2-40B4-BE49-F238E27FC236}">
                <a16:creationId xmlns="" xmlns:a16="http://schemas.microsoft.com/office/drawing/2014/main" id="{6F0041DF-849A-E9DD-5092-168AE4628D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09" y="2861774"/>
            <a:ext cx="2160785" cy="2159006"/>
          </a:xfrm>
          <a:prstGeom prst="rect">
            <a:avLst/>
          </a:prstGeom>
        </p:spPr>
      </p:pic>
      <p:pic>
        <p:nvPicPr>
          <p:cNvPr id="8" name="图片 7" descr="背景图案&#10;&#10;AI 生成的内容可能不正确。">
            <a:extLst>
              <a:ext uri="{FF2B5EF4-FFF2-40B4-BE49-F238E27FC236}">
                <a16:creationId xmlns="" xmlns:a16="http://schemas.microsoft.com/office/drawing/2014/main" id="{A79E0265-B8EE-DDD5-5183-3992160C6F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268" y="2861774"/>
            <a:ext cx="2160785" cy="215900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E9ECE47F-C28C-3AE5-FD4E-63218DE6C924}"/>
              </a:ext>
            </a:extLst>
          </p:cNvPr>
          <p:cNvSpPr txBox="1"/>
          <p:nvPr/>
        </p:nvSpPr>
        <p:spPr>
          <a:xfrm>
            <a:off x="500317" y="1192008"/>
            <a:ext cx="48647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oil painting of people around a campfire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oil painting of an old man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="" xmlns:a16="http://schemas.microsoft.com/office/drawing/2014/main" id="{E34F3D3C-FB19-351E-8BC2-B0F3C0FBCC84}"/>
              </a:ext>
            </a:extLst>
          </p:cNvPr>
          <p:cNvSpPr/>
          <p:nvPr/>
        </p:nvSpPr>
        <p:spPr>
          <a:xfrm>
            <a:off x="302063" y="1127272"/>
            <a:ext cx="5176245" cy="4173011"/>
          </a:xfrm>
          <a:prstGeom prst="roundRect">
            <a:avLst/>
          </a:prstGeom>
          <a:noFill/>
          <a:ln w="38100">
            <a:solidFill>
              <a:srgbClr val="8D0005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AE062081-0A7E-21F2-6694-5CB165B80E17}"/>
              </a:ext>
            </a:extLst>
          </p:cNvPr>
          <p:cNvSpPr txBox="1"/>
          <p:nvPr/>
        </p:nvSpPr>
        <p:spPr>
          <a:xfrm>
            <a:off x="6468193" y="1192008"/>
            <a:ext cx="48174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jigsaw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oil painting of houseplants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oil painting of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marilyn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monroe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="" xmlns:a16="http://schemas.microsoft.com/office/drawing/2014/main" id="{70D83A9A-F755-CEBF-22A5-6A037902BFEC}"/>
              </a:ext>
            </a:extLst>
          </p:cNvPr>
          <p:cNvSpPr/>
          <p:nvPr/>
        </p:nvSpPr>
        <p:spPr>
          <a:xfrm>
            <a:off x="6288820" y="1127272"/>
            <a:ext cx="5176245" cy="4173011"/>
          </a:xfrm>
          <a:prstGeom prst="roundRect">
            <a:avLst/>
          </a:prstGeom>
          <a:noFill/>
          <a:ln w="38100">
            <a:solidFill>
              <a:srgbClr val="8D0005"/>
            </a:solidFill>
            <a:prstDash val="dash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图片包含 室内, 桌子, 华美, 装饰&#10;&#10;AI 生成的内容可能不正确。">
            <a:extLst>
              <a:ext uri="{FF2B5EF4-FFF2-40B4-BE49-F238E27FC236}">
                <a16:creationId xmlns="" xmlns:a16="http://schemas.microsoft.com/office/drawing/2014/main" id="{E5636AF4-12CA-166C-E816-0BBE9DEAC9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895" y="2863556"/>
            <a:ext cx="2148361" cy="2157224"/>
          </a:xfrm>
          <a:prstGeom prst="rect">
            <a:avLst/>
          </a:prstGeom>
        </p:spPr>
      </p:pic>
      <p:pic>
        <p:nvPicPr>
          <p:cNvPr id="25" name="图片 24" descr="图片包含 桌子, 华美, 装饰, 覆盖&#10;&#10;AI 生成的内容可能不正确。">
            <a:extLst>
              <a:ext uri="{FF2B5EF4-FFF2-40B4-BE49-F238E27FC236}">
                <a16:creationId xmlns="" xmlns:a16="http://schemas.microsoft.com/office/drawing/2014/main" id="{F5141594-3AB8-6159-F571-A506D4594E4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330" y="2861774"/>
            <a:ext cx="2148361" cy="215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34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CA2805B-C079-A3F9-74FA-9A8A197FE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B6E1C32-B744-DDAD-C23F-2BA0BA01A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Reproduction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BFFB02CD-46FB-7D93-802F-3BE4AB18A7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186" y="2861774"/>
            <a:ext cx="2157230" cy="21590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89DF0D2B-84EC-D4A3-B65C-113E5238D0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9268" y="2863547"/>
            <a:ext cx="2160785" cy="215546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1DFB2C2A-CF7C-4149-A846-6E593F0A507B}"/>
              </a:ext>
            </a:extLst>
          </p:cNvPr>
          <p:cNvSpPr txBox="1"/>
          <p:nvPr/>
        </p:nvSpPr>
        <p:spPr>
          <a:xfrm>
            <a:off x="500317" y="1192008"/>
            <a:ext cx="4864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circle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oil painting of albert einstein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oil painting of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marilyn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monroe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="" xmlns:a16="http://schemas.microsoft.com/office/drawing/2014/main" id="{2976F987-5FFD-8D1C-A966-25DE1609327F}"/>
              </a:ext>
            </a:extLst>
          </p:cNvPr>
          <p:cNvSpPr/>
          <p:nvPr/>
        </p:nvSpPr>
        <p:spPr>
          <a:xfrm>
            <a:off x="302063" y="1127272"/>
            <a:ext cx="5176245" cy="4173011"/>
          </a:xfrm>
          <a:prstGeom prst="roundRect">
            <a:avLst/>
          </a:prstGeom>
          <a:noFill/>
          <a:ln w="38100">
            <a:solidFill>
              <a:srgbClr val="8D0005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BE47B7AE-0A5B-1550-3C4C-7D7878631574}"/>
              </a:ext>
            </a:extLst>
          </p:cNvPr>
          <p:cNvSpPr txBox="1"/>
          <p:nvPr/>
        </p:nvSpPr>
        <p:spPr>
          <a:xfrm>
            <a:off x="6468193" y="1192008"/>
            <a:ext cx="48174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negate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lithograph of a landscape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lithograph of houseplants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="" xmlns:a16="http://schemas.microsoft.com/office/drawing/2014/main" id="{998F5C51-D0E3-C289-F08B-6039A545630F}"/>
              </a:ext>
            </a:extLst>
          </p:cNvPr>
          <p:cNvSpPr/>
          <p:nvPr/>
        </p:nvSpPr>
        <p:spPr>
          <a:xfrm>
            <a:off x="6288820" y="1127272"/>
            <a:ext cx="5176245" cy="4173011"/>
          </a:xfrm>
          <a:prstGeom prst="roundRect">
            <a:avLst/>
          </a:prstGeom>
          <a:noFill/>
          <a:ln w="38100">
            <a:solidFill>
              <a:srgbClr val="8D0005"/>
            </a:solidFill>
            <a:prstDash val="dash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="" xmlns:a16="http://schemas.microsoft.com/office/drawing/2014/main" id="{73C47242-4226-2192-97FF-EF5A969E60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38895" y="2867103"/>
            <a:ext cx="2148361" cy="215012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="" xmlns:a16="http://schemas.microsoft.com/office/drawing/2014/main" id="{B7F62992-255F-E5F9-F6A9-0D34811128C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7330" y="2867096"/>
            <a:ext cx="2148361" cy="214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80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4F869D4-A1DC-66D1-17F7-91D0A31EB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81C9FC7-E481-3387-C946-B68A9A14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Reproduction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EBBE4288-C8C2-288A-FBFF-FE5A112D33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73" y="2861774"/>
            <a:ext cx="2155455" cy="21590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29EB71E2-DEB9-CFE4-97AB-F4FAABA408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4580" y="2863547"/>
            <a:ext cx="2150161" cy="215546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2111C116-731E-4508-E0B5-80E59182F3D9}"/>
              </a:ext>
            </a:extLst>
          </p:cNvPr>
          <p:cNvSpPr txBox="1"/>
          <p:nvPr/>
        </p:nvSpPr>
        <p:spPr>
          <a:xfrm>
            <a:off x="500317" y="1192008"/>
            <a:ext cx="4864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pacth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pencil sketch of a lemur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pencil sketch of a kangaroo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="" xmlns:a16="http://schemas.microsoft.com/office/drawing/2014/main" id="{26BA14F1-DD06-9BAB-7E7D-E95044F9B0BE}"/>
              </a:ext>
            </a:extLst>
          </p:cNvPr>
          <p:cNvSpPr/>
          <p:nvPr/>
        </p:nvSpPr>
        <p:spPr>
          <a:xfrm>
            <a:off x="302063" y="1127272"/>
            <a:ext cx="5176245" cy="4173011"/>
          </a:xfrm>
          <a:prstGeom prst="roundRect">
            <a:avLst/>
          </a:prstGeom>
          <a:noFill/>
          <a:ln w="38100">
            <a:solidFill>
              <a:srgbClr val="8D0005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8ABF0389-D4B8-D466-6024-57EF24F43003}"/>
              </a:ext>
            </a:extLst>
          </p:cNvPr>
          <p:cNvSpPr txBox="1"/>
          <p:nvPr/>
        </p:nvSpPr>
        <p:spPr>
          <a:xfrm>
            <a:off x="6468193" y="1192008"/>
            <a:ext cx="48174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mosaic of a duck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mosaic of a rabbit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="" xmlns:a16="http://schemas.microsoft.com/office/drawing/2014/main" id="{90EBC5E2-7196-30CE-24A0-A57E1A3F9281}"/>
              </a:ext>
            </a:extLst>
          </p:cNvPr>
          <p:cNvSpPr/>
          <p:nvPr/>
        </p:nvSpPr>
        <p:spPr>
          <a:xfrm>
            <a:off x="6288820" y="1127272"/>
            <a:ext cx="5176245" cy="4173011"/>
          </a:xfrm>
          <a:prstGeom prst="roundRect">
            <a:avLst/>
          </a:prstGeom>
          <a:noFill/>
          <a:ln w="38100">
            <a:solidFill>
              <a:srgbClr val="8D0005"/>
            </a:solidFill>
            <a:prstDash val="dash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="" xmlns:a16="http://schemas.microsoft.com/office/drawing/2014/main" id="{9F924259-40C8-7CBB-91E0-CD9CF50897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38895" y="2867104"/>
            <a:ext cx="2148361" cy="215012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="" xmlns:a16="http://schemas.microsoft.com/office/drawing/2014/main" id="{2039B44E-BDAA-0A69-7943-CE705CBA86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8213" y="2867096"/>
            <a:ext cx="2146595" cy="214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15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7117ACF-BA9A-7767-8761-DE2858D39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A91A3649-A48A-427E-0F6A-F41F3AF1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Reproduction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F58B471B-7E10-93AA-89A4-F619A6C03B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73" y="2862662"/>
            <a:ext cx="2155455" cy="21572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16EF910F-AEA3-C6DB-0E56-0215879D8F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4580" y="2865313"/>
            <a:ext cx="2150161" cy="215193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A57E9AAF-FE0E-C4ED-3A0B-A6824CB9D1CA}"/>
              </a:ext>
            </a:extLst>
          </p:cNvPr>
          <p:cNvSpPr txBox="1"/>
          <p:nvPr/>
        </p:nvSpPr>
        <p:spPr>
          <a:xfrm>
            <a:off x="500317" y="1192008"/>
            <a:ext cx="4864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oil painting of a Taylor Swift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oil painting of a rose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="" xmlns:a16="http://schemas.microsoft.com/office/drawing/2014/main" id="{BBC1A87F-60EE-3FE5-D826-DD273DAA3CFF}"/>
              </a:ext>
            </a:extLst>
          </p:cNvPr>
          <p:cNvSpPr/>
          <p:nvPr/>
        </p:nvSpPr>
        <p:spPr>
          <a:xfrm>
            <a:off x="302063" y="1127272"/>
            <a:ext cx="5176245" cy="4173011"/>
          </a:xfrm>
          <a:prstGeom prst="roundRect">
            <a:avLst/>
          </a:prstGeom>
          <a:noFill/>
          <a:ln w="38100">
            <a:solidFill>
              <a:srgbClr val="8D0005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A034ABCF-5DCE-6448-9081-38ED7048F89C}"/>
              </a:ext>
            </a:extLst>
          </p:cNvPr>
          <p:cNvSpPr txBox="1"/>
          <p:nvPr/>
        </p:nvSpPr>
        <p:spPr>
          <a:xfrm>
            <a:off x="6468193" y="1192008"/>
            <a:ext cx="48174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view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oil painting of a waterfall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oil painting of a teddy bear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oil painting of a rabbit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="" xmlns:a16="http://schemas.microsoft.com/office/drawing/2014/main" id="{1D4E398E-95B2-58E2-6EA1-8BE5564B21DE}"/>
              </a:ext>
            </a:extLst>
          </p:cNvPr>
          <p:cNvSpPr/>
          <p:nvPr/>
        </p:nvSpPr>
        <p:spPr>
          <a:xfrm>
            <a:off x="6288820" y="1127272"/>
            <a:ext cx="5176245" cy="4173011"/>
          </a:xfrm>
          <a:prstGeom prst="roundRect">
            <a:avLst/>
          </a:prstGeom>
          <a:noFill/>
          <a:ln w="38100">
            <a:solidFill>
              <a:srgbClr val="8D0005"/>
            </a:solidFill>
            <a:prstDash val="dash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="" xmlns:a16="http://schemas.microsoft.com/office/drawing/2014/main" id="{9813E607-B814-8E72-F144-33EBEDF6AC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92689" y="3246669"/>
            <a:ext cx="1446263" cy="14438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F2D3A8F4-32A6-B1AF-4F00-E9D59E13145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8193" y="3246669"/>
            <a:ext cx="1446266" cy="14486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B27602EB-7B0F-A3C9-126C-F0A8A12AFB7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93349" y="3248395"/>
            <a:ext cx="1447453" cy="144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30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183" y="2153796"/>
            <a:ext cx="5638190" cy="249771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A5EBE33-80C7-AA36-6758-B5A69E3F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Experimental Design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="" xmlns:a16="http://schemas.microsoft.com/office/drawing/2014/main" id="{9C07EEA8-64FF-439B-A968-8E3D168A2C23}"/>
              </a:ext>
            </a:extLst>
          </p:cNvPr>
          <p:cNvSpPr txBox="1"/>
          <p:nvPr/>
        </p:nvSpPr>
        <p:spPr>
          <a:xfrm>
            <a:off x="470051" y="1395497"/>
            <a:ext cx="69330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i="0" dirty="0" smtClean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US" altLang="zh-CN" sz="2400" b="1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1: Finding the Threshold of View Count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conduct 5 trials for each example across different view counts, then compute the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 metrics to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view count threshold.</a:t>
            </a:r>
          </a:p>
          <a:p>
            <a:endParaRPr lang="en-US" altLang="zh-CN" sz="24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Adaptive Enhancement for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Illusion Generation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same examples to test different adaptive methods to examine whether they can enhance the performance of generating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view illusions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367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0041DB6-81E4-550F-F810-4CEF0E04F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B243E42-AFC6-3B75-9D16-1D4E1463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Part 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8837FBFC-7498-655D-49A1-FC1B5056C89A}"/>
              </a:ext>
            </a:extLst>
          </p:cNvPr>
          <p:cNvSpPr txBox="1"/>
          <p:nvPr/>
        </p:nvSpPr>
        <p:spPr>
          <a:xfrm>
            <a:off x="1082946" y="1826864"/>
            <a:ext cx="5233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i="0" dirty="0" smtClean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 CLIP Scores for </a:t>
            </a:r>
            <a:r>
              <a:rPr lang="en-US" altLang="zh-CN" sz="2400" i="0" dirty="0" smtClean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2~6</a:t>
            </a:r>
            <a:endParaRPr lang="en-US" altLang="zh-CN" sz="240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66C61E58-1C7F-D0E3-6C73-BE4D22565E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05"/>
          <a:stretch>
            <a:fillRect/>
          </a:stretch>
        </p:blipFill>
        <p:spPr>
          <a:xfrm>
            <a:off x="751840" y="2486090"/>
            <a:ext cx="4952781" cy="321003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FE8AACED-6D33-F26D-43EB-E8C5A52B268B}"/>
              </a:ext>
            </a:extLst>
          </p:cNvPr>
          <p:cNvSpPr txBox="1"/>
          <p:nvPr/>
        </p:nvSpPr>
        <p:spPr>
          <a:xfrm>
            <a:off x="281833" y="1021407"/>
            <a:ext cx="8557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i="0" dirty="0" smtClean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US" altLang="zh-CN" sz="2400" b="1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1: Finding the Threshold of View </a:t>
            </a:r>
            <a:r>
              <a:rPr lang="en-US" altLang="zh-CN" sz="2400" b="1" i="0" dirty="0" smtClean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 (4 View)</a:t>
            </a:r>
            <a:endParaRPr lang="en-US" altLang="zh-CN" sz="2400" b="1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="" xmlns:a16="http://schemas.microsoft.com/office/drawing/2014/main" id="{B9FA43BA-2CA0-B5C7-B65E-6883B58F3259}"/>
              </a:ext>
            </a:extLst>
          </p:cNvPr>
          <p:cNvSpPr/>
          <p:nvPr/>
        </p:nvSpPr>
        <p:spPr>
          <a:xfrm>
            <a:off x="548640" y="1624928"/>
            <a:ext cx="5461462" cy="4417057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="" xmlns:a16="http://schemas.microsoft.com/office/drawing/2014/main" id="{6945FCD7-C6C3-D752-EA6F-70C840D7C512}"/>
              </a:ext>
            </a:extLst>
          </p:cNvPr>
          <p:cNvSpPr/>
          <p:nvPr/>
        </p:nvSpPr>
        <p:spPr>
          <a:xfrm>
            <a:off x="6439111" y="1624928"/>
            <a:ext cx="5461462" cy="4417058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242D751C-A3F1-B4EE-02C4-8A2E081F570D}"/>
              </a:ext>
            </a:extLst>
          </p:cNvPr>
          <p:cNvSpPr txBox="1"/>
          <p:nvPr/>
        </p:nvSpPr>
        <p:spPr>
          <a:xfrm>
            <a:off x="6638992" y="1824676"/>
            <a:ext cx="50616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View CLIP Scores for View </a:t>
            </a:r>
            <a:r>
              <a:rPr lang="en-US" altLang="zh-CN" sz="2400" i="0" dirty="0" smtClean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4~6</a:t>
            </a:r>
            <a:endParaRPr lang="en-US" altLang="zh-CN" sz="240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="" xmlns:a16="http://schemas.microsoft.com/office/drawing/2014/main" id="{6A8B71A8-4226-9241-79D1-0EE50B89B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992" y="2428196"/>
            <a:ext cx="5010418" cy="321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749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2837F37-258C-60D6-B2F9-9302B8D02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A35E1264-4C0B-4BC9-AF58-2FBB479C7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 2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DF0DF6DA-2BA8-B3FC-C26B-0A1D1B370FE3}"/>
              </a:ext>
            </a:extLst>
          </p:cNvPr>
          <p:cNvSpPr txBox="1"/>
          <p:nvPr/>
        </p:nvSpPr>
        <p:spPr>
          <a:xfrm>
            <a:off x="165455" y="1048435"/>
            <a:ext cx="90866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i="0" dirty="0" smtClean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US" altLang="zh-CN" sz="2400" b="1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2: Adaptive Enhancement for Four-View Illusion Generation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DFB044FD-E9C9-F405-4675-B39D83F5ACDA}"/>
              </a:ext>
            </a:extLst>
          </p:cNvPr>
          <p:cNvSpPr txBox="1"/>
          <p:nvPr/>
        </p:nvSpPr>
        <p:spPr>
          <a:xfrm>
            <a:off x="334331" y="1510100"/>
            <a:ext cx="11324269" cy="490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use the same examples to test different adaptive methods to examine whether they can enhance the performance of generating four-view illusions. </a:t>
            </a:r>
            <a:endParaRPr lang="en-US" altLang="zh-CN" sz="2400" b="0" i="0" dirty="0" smtClean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Prompt Perturbation via Shared Seed (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1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Controlled noise injection to enhance diversity while preserving consistency.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Averaged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Embedding 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Unified semantic embedding broadcasted to all views for stronger alignment.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CLIP-Guided View Filtering 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Pre-filtering views based on CLIP similarity to improve semantic coherence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Strong Guidance 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Strong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Aggressively scales guidance strength to enforce tighter inter-view consistency at potential cost of diversity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Soft Guidance 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Soft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Dynamically modulates guidance strength based on inter-view similarity for balanced alignment and diversity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394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Improvement: Adaptive Soft Guidance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r="9162"/>
          <a:stretch/>
        </p:blipFill>
        <p:spPr>
          <a:xfrm>
            <a:off x="546908" y="1051421"/>
            <a:ext cx="5572538" cy="544877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277709" y="1237214"/>
            <a:ext cx="565521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using a fixed guidance scale for all views,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dynamically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modulates the guidance scale per view based on inter-view similarity.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adaptive scaling strengthens guidance in views with higher semantic alignment, allowing finer control over coherence while preserving diversity.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method applies a uniform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CFG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strength, which may underperform in multi-view scenarios with complex view interactions.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088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98FA6F0-C608-D86E-E500-5673D6D58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20BC53C-427C-47BB-AE38-DE1C479D6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1897558F-B30D-27C7-1857-75A012549C43}"/>
              </a:ext>
            </a:extLst>
          </p:cNvPr>
          <p:cNvSpPr txBox="1"/>
          <p:nvPr/>
        </p:nvSpPr>
        <p:spPr>
          <a:xfrm>
            <a:off x="165455" y="1048435"/>
            <a:ext cx="90866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i="0" dirty="0" smtClean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US" altLang="zh-CN" sz="2400" b="1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2: Adaptive Enhancement for Four-View Illusion Generation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A47B27E6-9DDB-63BB-1701-64FCF83CC76B}"/>
              </a:ext>
            </a:extLst>
          </p:cNvPr>
          <p:cNvSpPr txBox="1"/>
          <p:nvPr/>
        </p:nvSpPr>
        <p:spPr>
          <a:xfrm>
            <a:off x="165454" y="1510100"/>
            <a:ext cx="119655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totally test nine testcases in our illusion configuration list, and collect their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N×M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CLIP-A/C scores in View 4.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8960" y="4592320"/>
            <a:ext cx="11592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Rankings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based on first-place counts to minimize outlier influence.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leads in CLIP-A with 5 wins.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achieves the best CLIP-C performance with 4 wins, surpassing VA Original (3) and all other methods (1 or fewer).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51497"/>
            <a:ext cx="12192000" cy="195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9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4713" y="1470166"/>
            <a:ext cx="11727287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 Original to support arbitrary number of views and prompts (N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animation to adapt dynamically to any input size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Reproduced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experiments and verified with baseline comparison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drop threshold for multi-view illusions under arbitrary views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Tested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strategy tweaks at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threshold,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Guidance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showed best improvement.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07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5065932-D6F2-B7D3-AEA1-DCB8B645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BBBB767F-CE7E-3587-F503-89A8657B8A30}"/>
              </a:ext>
            </a:extLst>
          </p:cNvPr>
          <p:cNvSpPr txBox="1"/>
          <p:nvPr/>
        </p:nvSpPr>
        <p:spPr>
          <a:xfrm>
            <a:off x="281833" y="1175363"/>
            <a:ext cx="114766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Daniel Geng,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Inbum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and Andrew Owens. 2024. Visual Anagrams: Gen-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erating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Multi-View Optical Illusions with Diffusion Models. In Conference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onComputer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Vision and Pattern Recognition (CVPR).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arxiv.org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/abs/2311.17919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Matthew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Tancik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Illusion diffusion. https://github.com/tancik/Illusion-Diffusion, Feb. 2023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Ryan Burgert, Xiang Li, Abe Leite, Kanchana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Ranasinghe,and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Michael Ryoo. Diffusion illusions: Hiding images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inplain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sight. https://ryanndagreat.github.io/Diffusion-Illusions, Mar. 2023. </a:t>
            </a: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 Poole, Ajay Jain, Jonathan T. Barron, and Ben Milden-hall.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Dreamfusion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Text-to-3d using 2d diffusion.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arXiv,2022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Amir Hertz, Ron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Mokady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Tomer Tenenbaum, Kfir Aber-man, Neta Perel, and Daniel Cohen-Or. Prompt-to-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promptimage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editing with cross attention control. In ICCV, 2023. </a:t>
            </a: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Hila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Chefer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Oran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Ratzon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Amir Shalev, Lior Wolf,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andAlexander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Noy. Attend-and-excite: Attention-based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-tic guidance for text-to-image diffusion models. In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CVPR,2023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Mikhail Konstantinov, Alex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Shonenkov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Daria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Bakshandaeva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Ksenia Ivanova. If by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deepfloyd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lab at stabilityai,2023. GitHub repository.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34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0960" y="2641600"/>
            <a:ext cx="75670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Listening!</a:t>
            </a:r>
            <a:endParaRPr lang="zh-CN" alt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968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ShanghaiTech">
      <a:dk1>
        <a:sysClr val="windowText" lastClr="000000"/>
      </a:dk1>
      <a:lt1>
        <a:sysClr val="window" lastClr="FFFFFF"/>
      </a:lt1>
      <a:dk2>
        <a:srgbClr val="A40006"/>
      </a:dk2>
      <a:lt2>
        <a:srgbClr val="E7E6E6"/>
      </a:lt2>
      <a:accent1>
        <a:srgbClr val="004098"/>
      </a:accent1>
      <a:accent2>
        <a:srgbClr val="009944"/>
      </a:accent2>
      <a:accent3>
        <a:srgbClr val="F39800"/>
      </a:accent3>
      <a:accent4>
        <a:srgbClr val="7E3C93"/>
      </a:accent4>
      <a:accent5>
        <a:srgbClr val="269BC1"/>
      </a:accent5>
      <a:accent6>
        <a:srgbClr val="A40006"/>
      </a:accent6>
      <a:hlink>
        <a:srgbClr val="A40006"/>
      </a:hlink>
      <a:folHlink>
        <a:srgbClr val="A40006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2493</TotalTime>
  <Words>2848</Words>
  <Application>Microsoft Office PowerPoint</Application>
  <PresentationFormat>宽屏</PresentationFormat>
  <Paragraphs>250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微软雅黑</vt:lpstr>
      <vt:lpstr>Arial</vt:lpstr>
      <vt:lpstr>Calibri</vt:lpstr>
      <vt:lpstr>Times New Roman</vt:lpstr>
      <vt:lpstr>Wingdings</vt:lpstr>
      <vt:lpstr>Office 主题​​</vt:lpstr>
      <vt:lpstr>Generating Optical Illusions from Arbitrary Prompts with Diffusion Models</vt:lpstr>
      <vt:lpstr>Contributions</vt:lpstr>
      <vt:lpstr>Background: Optical illusions</vt:lpstr>
      <vt:lpstr>Related Work</vt:lpstr>
      <vt:lpstr>Methodology</vt:lpstr>
      <vt:lpstr>Reproduction</vt:lpstr>
      <vt:lpstr>Reproduction</vt:lpstr>
      <vt:lpstr>Reproduction</vt:lpstr>
      <vt:lpstr>Reproduction</vt:lpstr>
      <vt:lpstr>Reproduction</vt:lpstr>
      <vt:lpstr>Exploratory Experimental Design</vt:lpstr>
      <vt:lpstr>Results in Part 1</vt:lpstr>
      <vt:lpstr>Results in Part 2</vt:lpstr>
      <vt:lpstr>Improvement: Adaptive Soft Guidance </vt:lpstr>
      <vt:lpstr>Results in Part 2</vt:lpstr>
      <vt:lpstr>Innovations</vt:lpstr>
      <vt:lpstr>References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George Yao;Jiahe Shi</dc:creator>
  <cp:lastModifiedBy>Microsoft 帐户</cp:lastModifiedBy>
  <cp:revision>411</cp:revision>
  <dcterms:created xsi:type="dcterms:W3CDTF">1900-01-01T00:00:00Z</dcterms:created>
  <dcterms:modified xsi:type="dcterms:W3CDTF">2025-06-17T02:22:39Z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2052-12.22.0</vt:lpwstr>
  </property>
  <property fmtid="{D5CDD505-2E9C-101B-9397-08002B2CF9AE}" pid="3" name="ICV">
    <vt:lpwstr>80B76266CAF048D0B180BD7250798C20</vt:lpwstr>
  </property>
</Properties>
</file>